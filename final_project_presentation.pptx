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14630400" cy="8229600"/>
  <p:notesSz cx="8229600" cy="14630400"/>
  <p:embeddedFontLst>
    <p:embeddedFont>
      <p:font typeface="Kanit" pitchFamily="34" charset="0"/>
      <p:bold r:id="rId36"/>
    </p:embeddedFont>
    <p:embeddedFont>
      <p:font typeface="Kanit" pitchFamily="34" charset="-122"/>
      <p:bold r:id="rId37"/>
    </p:embeddedFont>
    <p:embeddedFont>
      <p:font typeface="Kanit" pitchFamily="34" charset="-120"/>
      <p:bold r:id="rId38"/>
    </p:embeddedFont>
    <p:embeddedFont>
      <p:font typeface="Martel Sans Light" panose="00000500000000000000" pitchFamily="34" charset="0"/>
      <p:regular r:id="rId39"/>
    </p:embeddedFont>
    <p:embeddedFont>
      <p:font typeface="Martel Sans Light" panose="00000500000000000000" pitchFamily="34" charset="-122"/>
      <p:regular r:id="rId40"/>
    </p:embeddedFont>
    <p:embeddedFont>
      <p:font typeface="Martel Sans Light" panose="00000500000000000000" pitchFamily="34" charset="-120"/>
      <p:regular r:id="rId41"/>
    </p:embeddedFont>
    <p:embeddedFont>
      <p:font typeface="Calibri" panose="020F0502020204030204" charset="0"/>
      <p:regular r:id="rId42"/>
      <p:bold r:id="rId43"/>
      <p:italic r:id="rId44"/>
      <p:boldItalic r:id="rId45"/>
    </p:embeddedFont>
    <p:embeddedFont>
      <p:font typeface="Consolas" panose="020B0609020204030204" pitchFamily="34" charset="0"/>
      <p:regular r:id="rId46"/>
      <p:bold r:id="rId47"/>
      <p:italic r:id="rId48"/>
      <p:boldItalic r:id="rId49"/>
    </p:embeddedFont>
    <p:embeddedFont>
      <p:font typeface="Consolas" panose="020B0609020204030204" pitchFamily="34" charset="-122"/>
      <p:regular r:id="rId50"/>
    </p:embeddedFont>
    <p:embeddedFont>
      <p:font typeface="Consolas" panose="020B0609020204030204" pitchFamily="34" charset="-120"/>
      <p:regular r:id="rId5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font" Target="fonts/font16.fntdata"/><Relationship Id="rId50" Type="http://schemas.openxmlformats.org/officeDocument/2006/relationships/font" Target="fonts/font15.fntdata"/><Relationship Id="rId5" Type="http://schemas.openxmlformats.org/officeDocument/2006/relationships/slide" Target="slides/slide2.xml"/><Relationship Id="rId49" Type="http://schemas.openxmlformats.org/officeDocument/2006/relationships/font" Target="fonts/font14.fntdata"/><Relationship Id="rId48" Type="http://schemas.openxmlformats.org/officeDocument/2006/relationships/font" Target="fonts/font13.fntdata"/><Relationship Id="rId47" Type="http://schemas.openxmlformats.org/officeDocument/2006/relationships/font" Target="fonts/font12.fntdata"/><Relationship Id="rId46" Type="http://schemas.openxmlformats.org/officeDocument/2006/relationships/font" Target="fonts/font11.fntdata"/><Relationship Id="rId45" Type="http://schemas.openxmlformats.org/officeDocument/2006/relationships/font" Target="fonts/font10.fntdata"/><Relationship Id="rId44" Type="http://schemas.openxmlformats.org/officeDocument/2006/relationships/font" Target="fonts/font9.fntdata"/><Relationship Id="rId43" Type="http://schemas.openxmlformats.org/officeDocument/2006/relationships/font" Target="fonts/font8.fntdata"/><Relationship Id="rId42" Type="http://schemas.openxmlformats.org/officeDocument/2006/relationships/font" Target="fonts/font7.fntdata"/><Relationship Id="rId41" Type="http://schemas.openxmlformats.org/officeDocument/2006/relationships/font" Target="fonts/font6.fntdata"/><Relationship Id="rId40" Type="http://schemas.openxmlformats.org/officeDocument/2006/relationships/font" Target="fonts/font5.fntdata"/><Relationship Id="rId4" Type="http://schemas.openxmlformats.org/officeDocument/2006/relationships/notesMaster" Target="notesMasters/notesMaster1.xml"/><Relationship Id="rId39" Type="http://schemas.openxmlformats.org/officeDocument/2006/relationships/font" Target="fonts/font4.fntdata"/><Relationship Id="rId38" Type="http://schemas.openxmlformats.org/officeDocument/2006/relationships/font" Target="fonts/font3.fntdata"/><Relationship Id="rId37" Type="http://schemas.openxmlformats.org/officeDocument/2006/relationships/font" Target="fonts/font2.fntdata"/><Relationship Id="rId36" Type="http://schemas.openxmlformats.org/officeDocument/2006/relationships/font" Target="fonts/font1.fntdata"/><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p:spPr>
      </p:sp>
      <p:sp>
        <p:nvSpPr>
          <p:cNvPr id="3" name="Shape 1"/>
          <p:cNvSpPr/>
          <p:nvPr/>
        </p:nvSpPr>
        <p:spPr>
          <a:xfrm>
            <a:off x="0" y="0"/>
            <a:ext cx="14630400" cy="8229600"/>
          </a:xfrm>
          <a:prstGeom prst="rect">
            <a:avLst/>
          </a:prstGeom>
          <a:solidFill>
            <a:srgbClr val="100C35"/>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1" Type="http://schemas.openxmlformats.org/officeDocument/2006/relationships/theme" Target="../theme/theme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0.xml"/><Relationship Id="rId2" Type="http://schemas.openxmlformats.org/officeDocument/2006/relationships/image" Target="../media/image13.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4.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5.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6.xml"/><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7.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18.xml"/><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9.xml"/><Relationship Id="rId2" Type="http://schemas.openxmlformats.org/officeDocument/2006/relationships/image" Target="../media/image36.png"/><Relationship Id="rId1"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0.xml"/><Relationship Id="rId1" Type="http://schemas.openxmlformats.org/officeDocument/2006/relationships/image" Target="../media/image3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3.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6.xml"/><Relationship Id="rId1" Type="http://schemas.openxmlformats.org/officeDocument/2006/relationships/image" Target="../media/image41.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7.xml"/><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8.xml"/><Relationship Id="rId1" Type="http://schemas.openxmlformats.org/officeDocument/2006/relationships/image" Target="../media/image4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0.xml"/><Relationship Id="rId1"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37724" y="1022033"/>
            <a:ext cx="6185535" cy="6185535"/>
          </a:xfrm>
          <a:prstGeom prst="rect">
            <a:avLst/>
          </a:prstGeom>
        </p:spPr>
      </p:pic>
      <p:sp>
        <p:nvSpPr>
          <p:cNvPr id="3" name="Text 0"/>
          <p:cNvSpPr/>
          <p:nvPr/>
        </p:nvSpPr>
        <p:spPr>
          <a:xfrm>
            <a:off x="7614761" y="1105138"/>
            <a:ext cx="6185535" cy="4224099"/>
          </a:xfrm>
          <a:prstGeom prst="rect">
            <a:avLst/>
          </a:prstGeom>
          <a:noFill/>
        </p:spPr>
        <p:txBody>
          <a:bodyPr wrap="square" lIns="0" tIns="0" rIns="0" bIns="0" rtlCol="0" anchor="t"/>
          <a:lstStyle/>
          <a:p>
            <a:pPr marL="0" indent="0" algn="l">
              <a:lnSpc>
                <a:spcPts val="5500"/>
              </a:lnSpc>
              <a:buNone/>
            </a:pPr>
            <a:r>
              <a:rPr lang="en-US" sz="4400" dirty="0">
                <a:solidFill>
                  <a:srgbClr val="FFFFFF"/>
                </a:solidFill>
                <a:latin typeface="Kanit" pitchFamily="34" charset="0"/>
                <a:ea typeface="Kanit" pitchFamily="34" charset="-122"/>
                <a:cs typeface="Kanit" pitchFamily="34" charset="-120"/>
              </a:rPr>
              <a:t> COMBINED PREDICTIVE MAINTENANCE AND AUTOMATED INSPECTION USING MACHINE LEARNING MODELS.</a:t>
            </a:r>
            <a:endParaRPr lang="en-US" sz="4400" dirty="0"/>
          </a:p>
        </p:txBody>
      </p:sp>
      <p:sp>
        <p:nvSpPr>
          <p:cNvPr id="4" name="Text 1"/>
          <p:cNvSpPr/>
          <p:nvPr/>
        </p:nvSpPr>
        <p:spPr>
          <a:xfrm>
            <a:off x="7614761" y="5568553"/>
            <a:ext cx="6185535" cy="383024"/>
          </a:xfrm>
          <a:prstGeom prst="rect">
            <a:avLst/>
          </a:prstGeom>
          <a:noFill/>
        </p:spPr>
        <p:txBody>
          <a:bodyPr wrap="none" lIns="0" tIns="0" rIns="0" bIns="0" rtlCol="0" anchor="t"/>
          <a:lstStyle/>
          <a:p>
            <a:pPr marL="0" indent="0" algn="l">
              <a:lnSpc>
                <a:spcPts val="3000"/>
              </a:lnSpc>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JUDY WAIRIMU NJUKU</a:t>
            </a:r>
            <a:endParaRPr lang="en-US" sz="1850" dirty="0"/>
          </a:p>
        </p:txBody>
      </p:sp>
      <p:sp>
        <p:nvSpPr>
          <p:cNvPr id="5" name="Text 2"/>
          <p:cNvSpPr/>
          <p:nvPr/>
        </p:nvSpPr>
        <p:spPr>
          <a:xfrm>
            <a:off x="7614761" y="6166961"/>
            <a:ext cx="6185535" cy="383024"/>
          </a:xfrm>
          <a:prstGeom prst="rect">
            <a:avLst/>
          </a:prstGeom>
          <a:noFill/>
        </p:spPr>
        <p:txBody>
          <a:bodyPr wrap="none" lIns="0" tIns="0" rIns="0" bIns="0" rtlCol="0" anchor="t"/>
          <a:lstStyle/>
          <a:p>
            <a:pPr marL="0" indent="0" algn="l">
              <a:lnSpc>
                <a:spcPts val="3000"/>
              </a:lnSpc>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April 24, 2025</a:t>
            </a:r>
            <a:endParaRPr lang="en-US" sz="1850" dirty="0"/>
          </a:p>
        </p:txBody>
      </p:sp>
      <p:sp>
        <p:nvSpPr>
          <p:cNvPr id="6" name="Text 3"/>
          <p:cNvSpPr/>
          <p:nvPr/>
        </p:nvSpPr>
        <p:spPr>
          <a:xfrm>
            <a:off x="7614761" y="6765369"/>
            <a:ext cx="6185535" cy="383024"/>
          </a:xfrm>
          <a:prstGeom prst="rect">
            <a:avLst/>
          </a:prstGeom>
          <a:noFill/>
        </p:spPr>
        <p:txBody>
          <a:bodyPr wrap="none" lIns="0" tIns="0" rIns="0" bIns="0" rtlCol="0" anchor="t"/>
          <a:lstStyle/>
          <a:p>
            <a:pPr marL="0" indent="0" algn="l">
              <a:lnSpc>
                <a:spcPts val="3000"/>
              </a:lnSpc>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judynjuku7@gmail.com</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31624"/>
          </a:xfrm>
          <a:prstGeom prst="rect">
            <a:avLst/>
          </a:prstGeom>
        </p:spPr>
      </p:pic>
      <p:sp>
        <p:nvSpPr>
          <p:cNvPr id="3" name="Text 0"/>
          <p:cNvSpPr/>
          <p:nvPr/>
        </p:nvSpPr>
        <p:spPr>
          <a:xfrm>
            <a:off x="829270" y="651629"/>
            <a:ext cx="5575697" cy="696873"/>
          </a:xfrm>
          <a:prstGeom prst="rect">
            <a:avLst/>
          </a:prstGeom>
          <a:noFill/>
        </p:spPr>
        <p:txBody>
          <a:bodyPr wrap="none" lIns="0" tIns="0" rIns="0" bIns="0" rtlCol="0" anchor="t"/>
          <a:lstStyle/>
          <a:p>
            <a:pPr marL="0" indent="0" algn="l">
              <a:lnSpc>
                <a:spcPts val="5450"/>
              </a:lnSpc>
              <a:buNone/>
            </a:pPr>
            <a:r>
              <a:rPr lang="en-US" sz="4350" dirty="0">
                <a:solidFill>
                  <a:srgbClr val="FFFFFF"/>
                </a:solidFill>
                <a:latin typeface="Kanit" pitchFamily="34" charset="0"/>
                <a:ea typeface="Kanit" pitchFamily="34" charset="-122"/>
                <a:cs typeface="Kanit" pitchFamily="34" charset="-120"/>
              </a:rPr>
              <a:t>PROJECT SUMMARY.</a:t>
            </a:r>
            <a:endParaRPr lang="en-US" sz="4350" dirty="0"/>
          </a:p>
        </p:txBody>
      </p:sp>
      <p:sp>
        <p:nvSpPr>
          <p:cNvPr id="4" name="Text 1"/>
          <p:cNvSpPr/>
          <p:nvPr/>
        </p:nvSpPr>
        <p:spPr>
          <a:xfrm>
            <a:off x="829270" y="1703903"/>
            <a:ext cx="7485459" cy="2653665"/>
          </a:xfrm>
          <a:prstGeom prst="rect">
            <a:avLst/>
          </a:prstGeom>
          <a:noFill/>
        </p:spPr>
        <p:txBody>
          <a:bodyPr wrap="square" lIns="0" tIns="0" rIns="0" bIns="0" rtlCol="0" anchor="t"/>
          <a:lstStyle/>
          <a:p>
            <a:pPr marL="0" indent="0" algn="l">
              <a:lnSpc>
                <a:spcPts val="2950"/>
              </a:lnSpc>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This report details the development and evaluation of two distinct yet related machine learning projects. The first, the "Mother Project," addresses predictive maintenance in industrial settings, utilizing a Kaggle dataset(AI4I 2020 Predictive Maintenance Dataset) to predict machine failure likelihood and tool wear extent. The models were deployed as an interactive web application using Streamlit. </a:t>
            </a:r>
            <a:endParaRPr lang="en-US" sz="1850" dirty="0"/>
          </a:p>
        </p:txBody>
      </p:sp>
      <p:sp>
        <p:nvSpPr>
          <p:cNvPr id="5" name="Text 2"/>
          <p:cNvSpPr/>
          <p:nvPr/>
        </p:nvSpPr>
        <p:spPr>
          <a:xfrm>
            <a:off x="829270" y="4624149"/>
            <a:ext cx="7485459" cy="2274570"/>
          </a:xfrm>
          <a:prstGeom prst="rect">
            <a:avLst/>
          </a:prstGeom>
          <a:noFill/>
        </p:spPr>
        <p:txBody>
          <a:bodyPr wrap="square" lIns="0" tIns="0" rIns="0" bIns="0" rtlCol="0" anchor="t"/>
          <a:lstStyle/>
          <a:p>
            <a:pPr marL="0" indent="0" algn="l">
              <a:lnSpc>
                <a:spcPts val="2950"/>
              </a:lnSpc>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second project, the "Baby Project," explores machine learning in automated quality inspection for casting defect detection. The dataset used is casting_product_image_data. This involved developing a CNN model to classify images of cast metal products as "okay" or "defective," with a user-friendly desktop application created using Tkinter.</a:t>
            </a:r>
            <a:endParaRPr lang="en-US" sz="1850" dirty="0"/>
          </a:p>
        </p:txBody>
      </p:sp>
      <p:sp>
        <p:nvSpPr>
          <p:cNvPr id="6" name="Shape 3"/>
          <p:cNvSpPr/>
          <p:nvPr/>
        </p:nvSpPr>
        <p:spPr>
          <a:xfrm>
            <a:off x="829270" y="7183041"/>
            <a:ext cx="379095" cy="379095"/>
          </a:xfrm>
          <a:prstGeom prst="roundRect">
            <a:avLst>
              <a:gd name="adj" fmla="val 24118191"/>
            </a:avLst>
          </a:prstGeom>
          <a:noFill/>
          <a:ln w="7620">
            <a:solidFill>
              <a:srgbClr val="4D4D51"/>
            </a:solidFill>
            <a:prstDash val="solid"/>
          </a:ln>
        </p:spPr>
      </p:sp>
      <p:pic>
        <p:nvPicPr>
          <p:cNvPr id="7" name="Image 1" descr="preencoded.png"/>
          <p:cNvPicPr>
            <a:picLocks noChangeAspect="1"/>
          </p:cNvPicPr>
          <p:nvPr/>
        </p:nvPicPr>
        <p:blipFill>
          <a:blip r:embed="rId2"/>
          <a:stretch>
            <a:fillRect/>
          </a:stretch>
        </p:blipFill>
        <p:spPr>
          <a:xfrm>
            <a:off x="836890" y="7190661"/>
            <a:ext cx="363855" cy="363855"/>
          </a:xfrm>
          <a:prstGeom prst="rect">
            <a:avLst/>
          </a:prstGeom>
        </p:spPr>
      </p:pic>
      <p:sp>
        <p:nvSpPr>
          <p:cNvPr id="8" name="Text 4"/>
          <p:cNvSpPr/>
          <p:nvPr/>
        </p:nvSpPr>
        <p:spPr>
          <a:xfrm>
            <a:off x="1326833" y="7165300"/>
            <a:ext cx="2059543" cy="414695"/>
          </a:xfrm>
          <a:prstGeom prst="rect">
            <a:avLst/>
          </a:prstGeom>
          <a:noFill/>
        </p:spPr>
        <p:txBody>
          <a:bodyPr wrap="none" lIns="0" tIns="0" rIns="0" bIns="0" rtlCol="0" anchor="t"/>
          <a:lstStyle/>
          <a:p>
            <a:pPr marL="0" indent="0" algn="l">
              <a:lnSpc>
                <a:spcPts val="3250"/>
              </a:lnSpc>
              <a:buNone/>
            </a:pPr>
            <a:r>
              <a:rPr lang="en-US" sz="2300" b="1" dirty="0">
                <a:solidFill>
                  <a:srgbClr val="D9E1FF"/>
                </a:solidFill>
                <a:latin typeface="Martel Sans Bold" pitchFamily="34" charset="0"/>
                <a:ea typeface="Martel Sans Bold" pitchFamily="34" charset="-122"/>
                <a:cs typeface="Martel Sans Bold" pitchFamily="34" charset="-120"/>
              </a:rPr>
              <a:t>by Judy Njuku</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724" y="738307"/>
            <a:ext cx="11275219" cy="704017"/>
          </a:xfrm>
          <a:prstGeom prst="rect">
            <a:avLst/>
          </a:prstGeom>
          <a:noFill/>
        </p:spPr>
        <p:txBody>
          <a:bodyPr wrap="none" lIns="0" tIns="0" rIns="0" bIns="0" rtlCol="0" anchor="t"/>
          <a:lstStyle/>
          <a:p>
            <a:pPr marL="0" indent="0" algn="l">
              <a:lnSpc>
                <a:spcPts val="5500"/>
              </a:lnSpc>
              <a:buNone/>
            </a:pPr>
            <a:r>
              <a:rPr lang="en-US" sz="4400" dirty="0">
                <a:solidFill>
                  <a:srgbClr val="FFFFFF"/>
                </a:solidFill>
                <a:latin typeface="Kanit" pitchFamily="34" charset="0"/>
                <a:ea typeface="Kanit" pitchFamily="34" charset="-122"/>
                <a:cs typeface="Kanit" pitchFamily="34" charset="-120"/>
              </a:rPr>
              <a:t>Predictive Maintenance: The "Mother Project"</a:t>
            </a:r>
            <a:endParaRPr lang="en-US" sz="4400" dirty="0"/>
          </a:p>
        </p:txBody>
      </p:sp>
      <p:sp>
        <p:nvSpPr>
          <p:cNvPr id="3" name="Text 1"/>
          <p:cNvSpPr/>
          <p:nvPr/>
        </p:nvSpPr>
        <p:spPr>
          <a:xfrm>
            <a:off x="837724" y="2040612"/>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FFFFFF"/>
                </a:solidFill>
                <a:latin typeface="Kanit" pitchFamily="34" charset="0"/>
                <a:ea typeface="Kanit" pitchFamily="34" charset="-122"/>
                <a:cs typeface="Kanit" pitchFamily="34" charset="-120"/>
              </a:rPr>
              <a:t>Motivation</a:t>
            </a:r>
            <a:endParaRPr lang="en-US" sz="2200" dirty="0"/>
          </a:p>
        </p:txBody>
      </p:sp>
      <p:sp>
        <p:nvSpPr>
          <p:cNvPr id="4" name="Text 2"/>
          <p:cNvSpPr/>
          <p:nvPr/>
        </p:nvSpPr>
        <p:spPr>
          <a:xfrm>
            <a:off x="837724" y="2631877"/>
            <a:ext cx="6185535" cy="2298144"/>
          </a:xfrm>
          <a:prstGeom prst="rect">
            <a:avLst/>
          </a:prstGeom>
          <a:noFill/>
        </p:spPr>
        <p:txBody>
          <a:bodyPr wrap="square" lIns="0" tIns="0" rIns="0" bIns="0" rtlCol="0" anchor="t"/>
          <a:lstStyle/>
          <a:p>
            <a:pPr marL="0" indent="0" algn="l">
              <a:lnSpc>
                <a:spcPts val="3000"/>
              </a:lnSpc>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"Mother Project" is motivated by the economic and operational benefits of predictive maintenance. Unplanned machine failures lead to downtime, production losses, and safety hazards. Accurate prediction enables timely interventions, reducing risks and optimizing schedules.</a:t>
            </a:r>
            <a:endParaRPr lang="en-US" sz="1850" dirty="0"/>
          </a:p>
        </p:txBody>
      </p:sp>
      <p:sp>
        <p:nvSpPr>
          <p:cNvPr id="5" name="Text 3"/>
          <p:cNvSpPr/>
          <p:nvPr/>
        </p:nvSpPr>
        <p:spPr>
          <a:xfrm>
            <a:off x="7614761" y="2040612"/>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FFFFFF"/>
                </a:solidFill>
                <a:latin typeface="Kanit" pitchFamily="34" charset="0"/>
                <a:ea typeface="Kanit" pitchFamily="34" charset="-122"/>
                <a:cs typeface="Kanit" pitchFamily="34" charset="-120"/>
              </a:rPr>
              <a:t>Problem Statement</a:t>
            </a:r>
            <a:endParaRPr lang="en-US" sz="2200" dirty="0"/>
          </a:p>
        </p:txBody>
      </p:sp>
      <p:sp>
        <p:nvSpPr>
          <p:cNvPr id="6" name="Text 4"/>
          <p:cNvSpPr/>
          <p:nvPr/>
        </p:nvSpPr>
        <p:spPr>
          <a:xfrm>
            <a:off x="7614761" y="2631877"/>
            <a:ext cx="6185535" cy="1915120"/>
          </a:xfrm>
          <a:prstGeom prst="rect">
            <a:avLst/>
          </a:prstGeom>
          <a:noFill/>
        </p:spPr>
        <p:txBody>
          <a:bodyPr wrap="square" lIns="0" tIns="0" rIns="0" bIns="0" rtlCol="0" anchor="t"/>
          <a:lstStyle/>
          <a:p>
            <a:pPr marL="0" indent="0" algn="l">
              <a:lnSpc>
                <a:spcPts val="3000"/>
              </a:lnSpc>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increasing cost and downtime associated with industrial machinery necessitate accurate prediction of machine failures and tool wear to enable proactive maintenance, minimize disruptions, and optimize resource utilization.</a:t>
            </a:r>
            <a:endParaRPr lang="en-US" sz="1850" dirty="0"/>
          </a:p>
        </p:txBody>
      </p:sp>
      <p:sp>
        <p:nvSpPr>
          <p:cNvPr id="7" name="Text 5"/>
          <p:cNvSpPr/>
          <p:nvPr/>
        </p:nvSpPr>
        <p:spPr>
          <a:xfrm>
            <a:off x="7614761" y="4762381"/>
            <a:ext cx="6185535" cy="383024"/>
          </a:xfrm>
          <a:prstGeom prst="rect">
            <a:avLst/>
          </a:prstGeom>
          <a:noFill/>
        </p:spPr>
        <p:txBody>
          <a:bodyPr wrap="none" lIns="0" tIns="0" rIns="0" bIns="0" rtlCol="0" anchor="t"/>
          <a:lstStyle/>
          <a:p>
            <a:pPr marL="0" indent="0" algn="l">
              <a:lnSpc>
                <a:spcPts val="3000"/>
              </a:lnSpc>
              <a:buNone/>
            </a:pP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METHODOLOGY.</a:t>
            </a:r>
            <a:endParaRPr lang="en-US" sz="1850" dirty="0"/>
          </a:p>
        </p:txBody>
      </p:sp>
      <p:sp>
        <p:nvSpPr>
          <p:cNvPr id="8" name="Text 6"/>
          <p:cNvSpPr/>
          <p:nvPr/>
        </p:nvSpPr>
        <p:spPr>
          <a:xfrm>
            <a:off x="7614761" y="5360789"/>
            <a:ext cx="6185535" cy="1915120"/>
          </a:xfrm>
          <a:prstGeom prst="rect">
            <a:avLst/>
          </a:prstGeom>
          <a:noFill/>
        </p:spPr>
        <p:txBody>
          <a:bodyPr wrap="square" lIns="0" tIns="0" rIns="0" bIns="0" rtlCol="0" anchor="t"/>
          <a:lstStyle/>
          <a:p>
            <a:pPr marL="0" indent="0" algn="l">
              <a:lnSpc>
                <a:spcPts val="3000"/>
              </a:lnSpc>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project aims to develop models for machine failure prediction (classification) and tool wear prediction (regression). The goal is to provide timely warnings and optimize tool replacement schedules, improving product quality and reducing expenses.</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03764" y="828080"/>
            <a:ext cx="7509272" cy="1373505"/>
          </a:xfrm>
          <a:prstGeom prst="rect">
            <a:avLst/>
          </a:prstGeom>
          <a:noFill/>
        </p:spPr>
        <p:txBody>
          <a:bodyPr wrap="square" lIns="0" tIns="0" rIns="0" bIns="0" rtlCol="0" anchor="t"/>
          <a:lstStyle/>
          <a:p>
            <a:pPr marL="0" indent="0" algn="l">
              <a:lnSpc>
                <a:spcPts val="5400"/>
              </a:lnSpc>
              <a:buNone/>
            </a:pPr>
            <a:r>
              <a:rPr lang="en-US" sz="4300" dirty="0">
                <a:solidFill>
                  <a:srgbClr val="FFFFFF"/>
                </a:solidFill>
                <a:latin typeface="Kanit" pitchFamily="34" charset="0"/>
                <a:ea typeface="Kanit" pitchFamily="34" charset="-122"/>
                <a:cs typeface="Kanit" pitchFamily="34" charset="-120"/>
              </a:rPr>
              <a:t>EXPLORATORY DATA ANALYSIS</a:t>
            </a:r>
            <a:endParaRPr lang="en-US" sz="4300" dirty="0"/>
          </a:p>
        </p:txBody>
      </p:sp>
      <p:sp>
        <p:nvSpPr>
          <p:cNvPr id="4" name="Shape 1"/>
          <p:cNvSpPr/>
          <p:nvPr/>
        </p:nvSpPr>
        <p:spPr>
          <a:xfrm>
            <a:off x="6303764" y="2551867"/>
            <a:ext cx="525423" cy="525423"/>
          </a:xfrm>
          <a:prstGeom prst="roundRect">
            <a:avLst>
              <a:gd name="adj" fmla="val 6667"/>
            </a:avLst>
          </a:prstGeom>
          <a:solidFill>
            <a:srgbClr val="2F2B54"/>
          </a:solidFill>
        </p:spPr>
      </p:sp>
      <p:sp>
        <p:nvSpPr>
          <p:cNvPr id="5" name="Text 2"/>
          <p:cNvSpPr/>
          <p:nvPr/>
        </p:nvSpPr>
        <p:spPr>
          <a:xfrm>
            <a:off x="7062668" y="2632115"/>
            <a:ext cx="3052286" cy="343495"/>
          </a:xfrm>
          <a:prstGeom prst="rect">
            <a:avLst/>
          </a:prstGeom>
          <a:noFill/>
        </p:spPr>
        <p:txBody>
          <a:bodyPr wrap="none" lIns="0" tIns="0" rIns="0" bIns="0" rtlCol="0" anchor="t"/>
          <a:lstStyle/>
          <a:p>
            <a:pPr marL="0" indent="0" algn="l">
              <a:lnSpc>
                <a:spcPts val="2700"/>
              </a:lnSpc>
              <a:buNone/>
            </a:pPr>
            <a:r>
              <a:rPr lang="en-US" sz="2150" b="1" dirty="0">
                <a:solidFill>
                  <a:srgbClr val="D9E1FF"/>
                </a:solidFill>
                <a:latin typeface="Kanit" pitchFamily="34" charset="0"/>
                <a:ea typeface="Kanit" pitchFamily="34" charset="-122"/>
                <a:cs typeface="Kanit" pitchFamily="34" charset="-120"/>
              </a:rPr>
              <a:t> Initial Data Exploration</a:t>
            </a:r>
            <a:endParaRPr lang="en-US" sz="2150" dirty="0"/>
          </a:p>
        </p:txBody>
      </p:sp>
      <p:sp>
        <p:nvSpPr>
          <p:cNvPr id="6" name="Text 3"/>
          <p:cNvSpPr/>
          <p:nvPr/>
        </p:nvSpPr>
        <p:spPr>
          <a:xfrm>
            <a:off x="7062668" y="3115628"/>
            <a:ext cx="6750368" cy="373737"/>
          </a:xfrm>
          <a:prstGeom prst="rect">
            <a:avLst/>
          </a:prstGeom>
          <a:noFill/>
        </p:spPr>
        <p:txBody>
          <a:bodyPr wrap="none" lIns="0" tIns="0" rIns="0" bIns="0" rtlCol="0" anchor="t"/>
          <a:lstStyle/>
          <a:p>
            <a:pPr marL="0" indent="0" algn="l">
              <a:lnSpc>
                <a:spcPts val="2900"/>
              </a:lnSpc>
              <a:buNone/>
            </a:pPr>
            <a:r>
              <a:rPr lang="en-US" sz="180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Data Overview</a:t>
            </a:r>
            <a:endParaRPr lang="en-US" sz="1800" dirty="0"/>
          </a:p>
        </p:txBody>
      </p:sp>
      <p:sp>
        <p:nvSpPr>
          <p:cNvPr id="7" name="Text 4"/>
          <p:cNvSpPr/>
          <p:nvPr/>
        </p:nvSpPr>
        <p:spPr>
          <a:xfrm>
            <a:off x="7062668" y="3629382"/>
            <a:ext cx="6750368" cy="373737"/>
          </a:xfrm>
          <a:prstGeom prst="rect">
            <a:avLst/>
          </a:prstGeom>
          <a:noFill/>
        </p:spPr>
        <p:txBody>
          <a:bodyPr wrap="none" lIns="0" tIns="0" rIns="0" bIns="0" rtlCol="0" anchor="t"/>
          <a:lstStyle/>
          <a:p>
            <a:pPr marL="685800" lvl="1" indent="-342900" algn="l">
              <a:lnSpc>
                <a:spcPts val="2900"/>
              </a:lnSpc>
              <a:buSzPct val="100000"/>
              <a:buChar char="•"/>
            </a:pPr>
            <a:r>
              <a:rPr lang="en-US" sz="18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Total Instances: 10,000</a:t>
            </a:r>
            <a:endParaRPr lang="en-US" sz="1800" dirty="0"/>
          </a:p>
        </p:txBody>
      </p:sp>
      <p:sp>
        <p:nvSpPr>
          <p:cNvPr id="8" name="Text 5"/>
          <p:cNvSpPr/>
          <p:nvPr/>
        </p:nvSpPr>
        <p:spPr>
          <a:xfrm>
            <a:off x="7062668" y="4084796"/>
            <a:ext cx="6750368" cy="373737"/>
          </a:xfrm>
          <a:prstGeom prst="rect">
            <a:avLst/>
          </a:prstGeom>
          <a:noFill/>
        </p:spPr>
        <p:txBody>
          <a:bodyPr wrap="none" lIns="0" tIns="0" rIns="0" bIns="0" rtlCol="0" anchor="t"/>
          <a:lstStyle/>
          <a:p>
            <a:pPr marL="685800" lvl="1" indent="-342900" algn="l">
              <a:lnSpc>
                <a:spcPts val="2900"/>
              </a:lnSpc>
              <a:buSzPct val="100000"/>
              <a:buChar char="•"/>
            </a:pPr>
            <a:r>
              <a:rPr lang="en-US" sz="18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Total Features: 14</a:t>
            </a:r>
            <a:endParaRPr lang="en-US" sz="1800" dirty="0"/>
          </a:p>
        </p:txBody>
      </p:sp>
      <p:sp>
        <p:nvSpPr>
          <p:cNvPr id="9" name="Text 6"/>
          <p:cNvSpPr/>
          <p:nvPr/>
        </p:nvSpPr>
        <p:spPr>
          <a:xfrm>
            <a:off x="7062668" y="4540210"/>
            <a:ext cx="6750368" cy="373737"/>
          </a:xfrm>
          <a:prstGeom prst="rect">
            <a:avLst/>
          </a:prstGeom>
          <a:noFill/>
        </p:spPr>
        <p:txBody>
          <a:bodyPr wrap="none" lIns="0" tIns="0" rIns="0" bIns="0" rtlCol="0" anchor="t"/>
          <a:lstStyle/>
          <a:p>
            <a:pPr marL="685800" lvl="1" indent="-342900" algn="l">
              <a:lnSpc>
                <a:spcPts val="2900"/>
              </a:lnSpc>
              <a:buSzPct val="100000"/>
              <a:buChar char="•"/>
            </a:pPr>
            <a:r>
              <a:rPr lang="en-US" sz="18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Data Types: Integer, Float, Categorical ('Type': H, L, M)</a:t>
            </a:r>
            <a:endParaRPr lang="en-US" sz="1800" dirty="0"/>
          </a:p>
        </p:txBody>
      </p:sp>
      <p:sp>
        <p:nvSpPr>
          <p:cNvPr id="10" name="Text 7"/>
          <p:cNvSpPr/>
          <p:nvPr/>
        </p:nvSpPr>
        <p:spPr>
          <a:xfrm>
            <a:off x="7062668" y="4995624"/>
            <a:ext cx="6750368" cy="373737"/>
          </a:xfrm>
          <a:prstGeom prst="rect">
            <a:avLst/>
          </a:prstGeom>
          <a:noFill/>
        </p:spPr>
        <p:txBody>
          <a:bodyPr wrap="none" lIns="0" tIns="0" rIns="0" bIns="0" rtlCol="0" anchor="t"/>
          <a:lstStyle/>
          <a:p>
            <a:pPr marL="685800" lvl="1" indent="-342900" algn="l">
              <a:lnSpc>
                <a:spcPts val="2900"/>
              </a:lnSpc>
              <a:buSzPct val="100000"/>
              <a:buChar char="•"/>
            </a:pPr>
            <a:r>
              <a:rPr lang="en-US" sz="18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Missing Values: None</a:t>
            </a:r>
            <a:endParaRPr lang="en-US" sz="1800" dirty="0"/>
          </a:p>
        </p:txBody>
      </p:sp>
      <p:sp>
        <p:nvSpPr>
          <p:cNvPr id="11" name="Text 8"/>
          <p:cNvSpPr/>
          <p:nvPr/>
        </p:nvSpPr>
        <p:spPr>
          <a:xfrm>
            <a:off x="7062668" y="5451038"/>
            <a:ext cx="6750368" cy="373737"/>
          </a:xfrm>
          <a:prstGeom prst="rect">
            <a:avLst/>
          </a:prstGeom>
          <a:noFill/>
        </p:spPr>
        <p:txBody>
          <a:bodyPr wrap="none" lIns="0" tIns="0" rIns="0" bIns="0" rtlCol="0" anchor="t"/>
          <a:lstStyle/>
          <a:p>
            <a:pPr marL="685800" lvl="1" indent="-342900" algn="l">
              <a:lnSpc>
                <a:spcPts val="2900"/>
              </a:lnSpc>
              <a:buSzPct val="100000"/>
              <a:buChar char="•"/>
            </a:pPr>
            <a:r>
              <a:rPr lang="en-US" sz="180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column names:</a:t>
            </a:r>
            <a:endParaRPr lang="en-US" sz="1800" dirty="0"/>
          </a:p>
        </p:txBody>
      </p:sp>
      <p:sp>
        <p:nvSpPr>
          <p:cNvPr id="12" name="Text 9"/>
          <p:cNvSpPr/>
          <p:nvPr/>
        </p:nvSpPr>
        <p:spPr>
          <a:xfrm>
            <a:off x="7062668" y="5906453"/>
            <a:ext cx="6750368" cy="1494949"/>
          </a:xfrm>
          <a:prstGeom prst="rect">
            <a:avLst/>
          </a:prstGeom>
          <a:noFill/>
        </p:spPr>
        <p:txBody>
          <a:bodyPr wrap="square" lIns="0" tIns="0" rIns="0" bIns="0" rtlCol="0" anchor="t"/>
          <a:lstStyle/>
          <a:p>
            <a:pPr marL="685800" lvl="1" indent="-342900" algn="l">
              <a:lnSpc>
                <a:spcPts val="2900"/>
              </a:lnSpc>
              <a:buSzPct val="100000"/>
              <a:buChar char="•"/>
            </a:pPr>
            <a:r>
              <a:rPr lang="en-US" sz="18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'UDI', 'Product ID', 'Type', 'Air temperature [K]', 'Process temperature [K]', 'Rotational speed [rpm]', 'Torque [Nm]', 'Tool wear [min]', 'Machine failure', 'TWF', 'HDF', 'PWF', 'OSF', 'RNF'],</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450294" y="935950"/>
            <a:ext cx="6707981" cy="6707981"/>
          </a:xfrm>
          <a:prstGeom prst="rect">
            <a:avLst/>
          </a:prstGeom>
        </p:spPr>
      </p:pic>
      <p:sp>
        <p:nvSpPr>
          <p:cNvPr id="3" name="Text 0"/>
          <p:cNvSpPr/>
          <p:nvPr/>
        </p:nvSpPr>
        <p:spPr>
          <a:xfrm>
            <a:off x="7479744" y="482322"/>
            <a:ext cx="3027521" cy="378381"/>
          </a:xfrm>
          <a:prstGeom prst="rect">
            <a:avLst/>
          </a:prstGeom>
          <a:noFill/>
        </p:spPr>
        <p:txBody>
          <a:bodyPr wrap="none" lIns="0" tIns="0" rIns="0" bIns="0" rtlCol="0" anchor="t"/>
          <a:lstStyle/>
          <a:p>
            <a:pPr marL="0" indent="0" algn="l">
              <a:lnSpc>
                <a:spcPts val="2950"/>
              </a:lnSpc>
              <a:buNone/>
            </a:pPr>
            <a:r>
              <a:rPr lang="en-US" sz="2350" b="1" dirty="0">
                <a:solidFill>
                  <a:srgbClr val="FFFFFF"/>
                </a:solidFill>
                <a:latin typeface="Kanit" pitchFamily="34" charset="0"/>
                <a:ea typeface="Kanit" pitchFamily="34" charset="-122"/>
                <a:cs typeface="Kanit" pitchFamily="34" charset="-120"/>
              </a:rPr>
              <a:t>Target Variables</a:t>
            </a:r>
            <a:endParaRPr lang="en-US" sz="2350" dirty="0"/>
          </a:p>
        </p:txBody>
      </p:sp>
      <p:sp>
        <p:nvSpPr>
          <p:cNvPr id="4" name="Text 1"/>
          <p:cNvSpPr/>
          <p:nvPr/>
        </p:nvSpPr>
        <p:spPr>
          <a:xfrm>
            <a:off x="7479744" y="989290"/>
            <a:ext cx="6707981" cy="205859"/>
          </a:xfrm>
          <a:prstGeom prst="rect">
            <a:avLst/>
          </a:prstGeom>
          <a:noFill/>
        </p:spPr>
        <p:txBody>
          <a:bodyPr wrap="none" lIns="0" tIns="0" rIns="0" bIns="0" rtlCol="0" anchor="t"/>
          <a:lstStyle/>
          <a:p>
            <a:pPr marL="0" indent="0" algn="l">
              <a:lnSpc>
                <a:spcPts val="1600"/>
              </a:lnSpc>
              <a:buSzPct val="100000"/>
              <a:buNone/>
            </a:pPr>
            <a:r>
              <a:rPr lang="en-US" sz="100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Machine Failure:</a:t>
            </a:r>
            <a:r>
              <a:rPr lang="en-US" sz="10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Binary Classification (Failure/No Failure)</a:t>
            </a:r>
            <a:endParaRPr lang="en-US" sz="1000" dirty="0"/>
          </a:p>
        </p:txBody>
      </p:sp>
      <p:sp>
        <p:nvSpPr>
          <p:cNvPr id="5" name="Text 2"/>
          <p:cNvSpPr/>
          <p:nvPr/>
        </p:nvSpPr>
        <p:spPr>
          <a:xfrm>
            <a:off x="7479744" y="1240155"/>
            <a:ext cx="6707981" cy="205859"/>
          </a:xfrm>
          <a:prstGeom prst="rect">
            <a:avLst/>
          </a:prstGeom>
          <a:noFill/>
        </p:spPr>
        <p:txBody>
          <a:bodyPr wrap="none" lIns="0" tIns="0" rIns="0" bIns="0" rtlCol="0" anchor="t"/>
          <a:lstStyle/>
          <a:p>
            <a:pPr marL="0" indent="0" algn="l">
              <a:lnSpc>
                <a:spcPts val="1600"/>
              </a:lnSpc>
              <a:buSzPct val="100000"/>
              <a:buNone/>
            </a:pPr>
            <a:r>
              <a:rPr lang="en-US" sz="100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Tool Wear [min]:</a:t>
            </a:r>
            <a:r>
              <a:rPr lang="en-US" sz="10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Continuous Regression (Remaining Tool Wear)</a:t>
            </a:r>
            <a:endParaRPr lang="en-US" sz="1000" dirty="0"/>
          </a:p>
        </p:txBody>
      </p:sp>
      <p:pic>
        <p:nvPicPr>
          <p:cNvPr id="6" name="Image 1" descr="preencoded.png"/>
          <p:cNvPicPr>
            <a:picLocks noChangeAspect="1"/>
          </p:cNvPicPr>
          <p:nvPr/>
        </p:nvPicPr>
        <p:blipFill>
          <a:blip r:embed="rId2"/>
          <a:stretch>
            <a:fillRect/>
          </a:stretch>
        </p:blipFill>
        <p:spPr>
          <a:xfrm>
            <a:off x="7479744" y="1590675"/>
            <a:ext cx="4048839" cy="2851547"/>
          </a:xfrm>
          <a:prstGeom prst="rect">
            <a:avLst/>
          </a:prstGeom>
        </p:spPr>
      </p:pic>
      <p:pic>
        <p:nvPicPr>
          <p:cNvPr id="7" name="Image 2" descr="preencoded.png"/>
          <p:cNvPicPr>
            <a:picLocks noChangeAspect="1"/>
          </p:cNvPicPr>
          <p:nvPr/>
        </p:nvPicPr>
        <p:blipFill>
          <a:blip r:embed="rId3"/>
          <a:stretch>
            <a:fillRect/>
          </a:stretch>
        </p:blipFill>
        <p:spPr>
          <a:xfrm>
            <a:off x="7479744" y="4586883"/>
            <a:ext cx="5427702" cy="2851547"/>
          </a:xfrm>
          <a:prstGeom prst="rect">
            <a:avLst/>
          </a:prstGeom>
        </p:spPr>
      </p:pic>
      <p:sp>
        <p:nvSpPr>
          <p:cNvPr id="8" name="Text 3"/>
          <p:cNvSpPr/>
          <p:nvPr/>
        </p:nvSpPr>
        <p:spPr>
          <a:xfrm>
            <a:off x="7479744" y="7583091"/>
            <a:ext cx="6707981" cy="205859"/>
          </a:xfrm>
          <a:prstGeom prst="rect">
            <a:avLst/>
          </a:prstGeom>
          <a:noFill/>
        </p:spPr>
        <p:txBody>
          <a:bodyPr wrap="none" lIns="0" tIns="0" rIns="0" bIns="0" rtlCol="0" anchor="t"/>
          <a:lstStyle/>
          <a:p>
            <a:pPr marL="0" indent="0" algn="l">
              <a:lnSpc>
                <a:spcPts val="1600"/>
              </a:lnSpc>
              <a:buNone/>
            </a:pPr>
            <a:endParaRPr lang="en-US" sz="1000" dirty="0"/>
          </a:p>
        </p:txBody>
      </p:sp>
      <p:sp>
        <p:nvSpPr>
          <p:cNvPr id="9" name="Text 4"/>
          <p:cNvSpPr/>
          <p:nvPr/>
        </p:nvSpPr>
        <p:spPr>
          <a:xfrm>
            <a:off x="7479744" y="7904678"/>
            <a:ext cx="6707981" cy="205859"/>
          </a:xfrm>
          <a:prstGeom prst="rect">
            <a:avLst/>
          </a:prstGeom>
          <a:noFill/>
        </p:spPr>
        <p:txBody>
          <a:bodyPr wrap="none" lIns="0" tIns="0" rIns="0" bIns="0" rtlCol="0" anchor="t"/>
          <a:lstStyle/>
          <a:p>
            <a:pPr marL="0" indent="0" algn="l">
              <a:lnSpc>
                <a:spcPts val="1600"/>
              </a:lnSpc>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2940" y="692467"/>
            <a:ext cx="13304520" cy="303014"/>
          </a:xfrm>
          <a:prstGeom prst="rect">
            <a:avLst/>
          </a:prstGeom>
          <a:noFill/>
        </p:spPr>
        <p:txBody>
          <a:bodyPr wrap="none" lIns="0" tIns="0" rIns="0" bIns="0" rtlCol="0" anchor="t"/>
          <a:lstStyle/>
          <a:p>
            <a:pPr marL="0" indent="0" algn="l">
              <a:lnSpc>
                <a:spcPts val="2350"/>
              </a:lnSpc>
              <a:buNone/>
            </a:pPr>
            <a:r>
              <a:rPr lang="en-US" sz="14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Operational Parameter Relationships</a:t>
            </a:r>
            <a:endParaRPr lang="en-US" sz="1450" dirty="0"/>
          </a:p>
        </p:txBody>
      </p:sp>
      <p:sp>
        <p:nvSpPr>
          <p:cNvPr id="3" name="Text 1"/>
          <p:cNvSpPr/>
          <p:nvPr/>
        </p:nvSpPr>
        <p:spPr>
          <a:xfrm>
            <a:off x="662940" y="1165860"/>
            <a:ext cx="13304520" cy="303014"/>
          </a:xfrm>
          <a:prstGeom prst="rect">
            <a:avLst/>
          </a:prstGeom>
          <a:noFill/>
        </p:spPr>
        <p:txBody>
          <a:bodyPr wrap="none" lIns="0" tIns="0" rIns="0" bIns="0" rtlCol="0" anchor="t"/>
          <a:lstStyle/>
          <a:p>
            <a:pPr marL="342900" indent="-342900" algn="l">
              <a:lnSpc>
                <a:spcPts val="2350"/>
              </a:lnSpc>
              <a:buSzPct val="100000"/>
              <a:buChar char="•"/>
            </a:pPr>
            <a:r>
              <a:rPr lang="en-US" sz="14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Correlation Analysis (Numerical Features)</a:t>
            </a:r>
            <a:endParaRPr lang="en-US" sz="1450" dirty="0"/>
          </a:p>
        </p:txBody>
      </p:sp>
      <p:sp>
        <p:nvSpPr>
          <p:cNvPr id="4" name="Text 2"/>
          <p:cNvSpPr/>
          <p:nvPr/>
        </p:nvSpPr>
        <p:spPr>
          <a:xfrm>
            <a:off x="662940" y="1535073"/>
            <a:ext cx="13304520" cy="303014"/>
          </a:xfrm>
          <a:prstGeom prst="rect">
            <a:avLst/>
          </a:prstGeom>
          <a:noFill/>
        </p:spPr>
        <p:txBody>
          <a:bodyPr wrap="none" lIns="0" tIns="0" rIns="0" bIns="0" rtlCol="0" anchor="t"/>
          <a:lstStyle/>
          <a:p>
            <a:pPr marL="685800" lvl="1" indent="-342900" algn="l">
              <a:lnSpc>
                <a:spcPts val="2350"/>
              </a:lnSpc>
              <a:buSzPct val="100000"/>
              <a:buChar char="•"/>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Performed Pearson Correlation Analysis.</a:t>
            </a:r>
            <a:endParaRPr lang="en-US" sz="1450" dirty="0"/>
          </a:p>
        </p:txBody>
      </p:sp>
      <p:sp>
        <p:nvSpPr>
          <p:cNvPr id="5" name="Text 3"/>
          <p:cNvSpPr/>
          <p:nvPr/>
        </p:nvSpPr>
        <p:spPr>
          <a:xfrm>
            <a:off x="662940" y="2051090"/>
            <a:ext cx="13304520" cy="303014"/>
          </a:xfrm>
          <a:prstGeom prst="rect">
            <a:avLst/>
          </a:prstGeom>
          <a:noFill/>
        </p:spPr>
        <p:txBody>
          <a:bodyPr wrap="none" lIns="0" tIns="0" rIns="0" bIns="0" rtlCol="0" anchor="t"/>
          <a:lstStyle/>
          <a:p>
            <a:pPr marL="0" indent="0" algn="l">
              <a:lnSpc>
                <a:spcPts val="2350"/>
              </a:lnSpc>
              <a:buNone/>
            </a:pPr>
            <a:r>
              <a:rPr lang="en-US" sz="14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Correlation matrix of the numerical features</a:t>
            </a:r>
            <a:endParaRPr lang="en-US" sz="1450" dirty="0"/>
          </a:p>
        </p:txBody>
      </p:sp>
      <p:pic>
        <p:nvPicPr>
          <p:cNvPr id="6" name="Image 0" descr="preencoded.png"/>
          <p:cNvPicPr>
            <a:picLocks noChangeAspect="1"/>
          </p:cNvPicPr>
          <p:nvPr/>
        </p:nvPicPr>
        <p:blipFill>
          <a:blip r:embed="rId1"/>
          <a:stretch>
            <a:fillRect/>
          </a:stretch>
        </p:blipFill>
        <p:spPr>
          <a:xfrm>
            <a:off x="662940" y="2780109"/>
            <a:ext cx="4715708" cy="4198382"/>
          </a:xfrm>
          <a:prstGeom prst="rect">
            <a:avLst/>
          </a:prstGeom>
        </p:spPr>
      </p:pic>
      <p:sp>
        <p:nvSpPr>
          <p:cNvPr id="7" name="Text 4"/>
          <p:cNvSpPr/>
          <p:nvPr/>
        </p:nvSpPr>
        <p:spPr>
          <a:xfrm>
            <a:off x="7140893" y="2737485"/>
            <a:ext cx="6834068" cy="303014"/>
          </a:xfrm>
          <a:prstGeom prst="rect">
            <a:avLst/>
          </a:prstGeom>
          <a:noFill/>
        </p:spPr>
        <p:txBody>
          <a:bodyPr wrap="none" lIns="0" tIns="0" rIns="0" bIns="0" rtlCol="0" anchor="t"/>
          <a:lstStyle/>
          <a:p>
            <a:pPr marL="0" indent="0" algn="l">
              <a:lnSpc>
                <a:spcPts val="2350"/>
              </a:lnSpc>
              <a:buNone/>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Correlation with 'Machine failure': </a:t>
            </a:r>
            <a:endParaRPr lang="en-US" sz="1450" dirty="0"/>
          </a:p>
        </p:txBody>
      </p:sp>
      <p:sp>
        <p:nvSpPr>
          <p:cNvPr id="8" name="Text 5"/>
          <p:cNvSpPr/>
          <p:nvPr/>
        </p:nvSpPr>
        <p:spPr>
          <a:xfrm>
            <a:off x="7140893" y="3210877"/>
            <a:ext cx="6834068" cy="303014"/>
          </a:xfrm>
          <a:prstGeom prst="rect">
            <a:avLst/>
          </a:prstGeom>
          <a:noFill/>
        </p:spPr>
        <p:txBody>
          <a:bodyPr wrap="none" lIns="0" tIns="0" rIns="0" bIns="0" rtlCol="0" anchor="t"/>
          <a:lstStyle/>
          <a:p>
            <a:pPr marL="0" indent="0" algn="l">
              <a:lnSpc>
                <a:spcPts val="2350"/>
              </a:lnSpc>
              <a:buNone/>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Machine failure 1.000000 </a:t>
            </a:r>
            <a:endParaRPr lang="en-US" sz="1450" dirty="0"/>
          </a:p>
        </p:txBody>
      </p:sp>
      <p:sp>
        <p:nvSpPr>
          <p:cNvPr id="9" name="Text 6"/>
          <p:cNvSpPr/>
          <p:nvPr/>
        </p:nvSpPr>
        <p:spPr>
          <a:xfrm>
            <a:off x="7140893" y="3684270"/>
            <a:ext cx="6834068" cy="303014"/>
          </a:xfrm>
          <a:prstGeom prst="rect">
            <a:avLst/>
          </a:prstGeom>
          <a:noFill/>
        </p:spPr>
        <p:txBody>
          <a:bodyPr wrap="none" lIns="0" tIns="0" rIns="0" bIns="0" rtlCol="0" anchor="t"/>
          <a:lstStyle/>
          <a:p>
            <a:pPr marL="0" indent="0" algn="l">
              <a:lnSpc>
                <a:spcPts val="2350"/>
              </a:lnSpc>
              <a:buNone/>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Torque [Nm] 0.191321 </a:t>
            </a:r>
            <a:endParaRPr lang="en-US" sz="1450" dirty="0"/>
          </a:p>
        </p:txBody>
      </p:sp>
      <p:sp>
        <p:nvSpPr>
          <p:cNvPr id="10" name="Text 7"/>
          <p:cNvSpPr/>
          <p:nvPr/>
        </p:nvSpPr>
        <p:spPr>
          <a:xfrm>
            <a:off x="7140893" y="4157663"/>
            <a:ext cx="6834068" cy="303014"/>
          </a:xfrm>
          <a:prstGeom prst="rect">
            <a:avLst/>
          </a:prstGeom>
          <a:noFill/>
        </p:spPr>
        <p:txBody>
          <a:bodyPr wrap="none" lIns="0" tIns="0" rIns="0" bIns="0" rtlCol="0" anchor="t"/>
          <a:lstStyle/>
          <a:p>
            <a:pPr marL="0" indent="0" algn="l">
              <a:lnSpc>
                <a:spcPts val="2350"/>
              </a:lnSpc>
              <a:buNone/>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Tool wear [min] 0.105448 </a:t>
            </a:r>
            <a:endParaRPr lang="en-US" sz="1450" dirty="0"/>
          </a:p>
        </p:txBody>
      </p:sp>
      <p:sp>
        <p:nvSpPr>
          <p:cNvPr id="11" name="Text 8"/>
          <p:cNvSpPr/>
          <p:nvPr/>
        </p:nvSpPr>
        <p:spPr>
          <a:xfrm>
            <a:off x="7140893" y="4631055"/>
            <a:ext cx="6834068" cy="303014"/>
          </a:xfrm>
          <a:prstGeom prst="rect">
            <a:avLst/>
          </a:prstGeom>
          <a:noFill/>
        </p:spPr>
        <p:txBody>
          <a:bodyPr wrap="none" lIns="0" tIns="0" rIns="0" bIns="0" rtlCol="0" anchor="t"/>
          <a:lstStyle/>
          <a:p>
            <a:pPr marL="0" indent="0" algn="l">
              <a:lnSpc>
                <a:spcPts val="2350"/>
              </a:lnSpc>
              <a:buNone/>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Air temperature [K] 0.082556</a:t>
            </a:r>
            <a:endParaRPr lang="en-US" sz="1450" dirty="0"/>
          </a:p>
        </p:txBody>
      </p:sp>
      <p:sp>
        <p:nvSpPr>
          <p:cNvPr id="12" name="Text 9"/>
          <p:cNvSpPr/>
          <p:nvPr/>
        </p:nvSpPr>
        <p:spPr>
          <a:xfrm>
            <a:off x="7140893" y="5104448"/>
            <a:ext cx="6834068" cy="303014"/>
          </a:xfrm>
          <a:prstGeom prst="rect">
            <a:avLst/>
          </a:prstGeom>
          <a:noFill/>
        </p:spPr>
        <p:txBody>
          <a:bodyPr wrap="none" lIns="0" tIns="0" rIns="0" bIns="0" rtlCol="0" anchor="t"/>
          <a:lstStyle/>
          <a:p>
            <a:pPr marL="0" indent="0" algn="l">
              <a:lnSpc>
                <a:spcPts val="2350"/>
              </a:lnSpc>
              <a:buNone/>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Process temperature [K] 0.035946</a:t>
            </a:r>
            <a:endParaRPr lang="en-US" sz="1450" dirty="0"/>
          </a:p>
        </p:txBody>
      </p:sp>
      <p:sp>
        <p:nvSpPr>
          <p:cNvPr id="13" name="Text 10"/>
          <p:cNvSpPr/>
          <p:nvPr/>
        </p:nvSpPr>
        <p:spPr>
          <a:xfrm>
            <a:off x="7140893" y="5577840"/>
            <a:ext cx="6834068" cy="303014"/>
          </a:xfrm>
          <a:prstGeom prst="rect">
            <a:avLst/>
          </a:prstGeom>
          <a:noFill/>
        </p:spPr>
        <p:txBody>
          <a:bodyPr wrap="none" lIns="0" tIns="0" rIns="0" bIns="0" rtlCol="0" anchor="t"/>
          <a:lstStyle/>
          <a:p>
            <a:pPr marL="0" indent="0" algn="l">
              <a:lnSpc>
                <a:spcPts val="2350"/>
              </a:lnSpc>
              <a:buNone/>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Rotational speed [rpm] -0.044188 </a:t>
            </a:r>
            <a:endParaRPr lang="en-US" sz="1450" dirty="0"/>
          </a:p>
        </p:txBody>
      </p:sp>
      <p:sp>
        <p:nvSpPr>
          <p:cNvPr id="14" name="Text 11"/>
          <p:cNvSpPr/>
          <p:nvPr/>
        </p:nvSpPr>
        <p:spPr>
          <a:xfrm>
            <a:off x="7140893" y="6051233"/>
            <a:ext cx="6834068" cy="303014"/>
          </a:xfrm>
          <a:prstGeom prst="rect">
            <a:avLst/>
          </a:prstGeom>
          <a:noFill/>
        </p:spPr>
        <p:txBody>
          <a:bodyPr wrap="none" lIns="0" tIns="0" rIns="0" bIns="0" rtlCol="0" anchor="t"/>
          <a:lstStyle/>
          <a:p>
            <a:pPr marL="0" indent="0" algn="l">
              <a:lnSpc>
                <a:spcPts val="2350"/>
              </a:lnSpc>
              <a:buNone/>
            </a:pPr>
            <a:endParaRPr lang="en-US" sz="1450" dirty="0"/>
          </a:p>
        </p:txBody>
      </p:sp>
      <p:sp>
        <p:nvSpPr>
          <p:cNvPr id="15" name="Text 12"/>
          <p:cNvSpPr/>
          <p:nvPr/>
        </p:nvSpPr>
        <p:spPr>
          <a:xfrm>
            <a:off x="662940" y="7404497"/>
            <a:ext cx="13304520" cy="303014"/>
          </a:xfrm>
          <a:prstGeom prst="rect">
            <a:avLst/>
          </a:prstGeom>
          <a:noFill/>
        </p:spPr>
        <p:txBody>
          <a:bodyPr wrap="none" lIns="0" tIns="0" rIns="0" bIns="0" rtlCol="0" anchor="t"/>
          <a:lstStyle/>
          <a:p>
            <a:pPr marL="0" indent="0" algn="l">
              <a:lnSpc>
                <a:spcPts val="2350"/>
              </a:lnSpc>
              <a:buNone/>
            </a:pP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6982" y="484823"/>
            <a:ext cx="10613469" cy="518517"/>
          </a:xfrm>
          <a:prstGeom prst="rect">
            <a:avLst/>
          </a:prstGeom>
          <a:noFill/>
        </p:spPr>
        <p:txBody>
          <a:bodyPr wrap="none" lIns="0" tIns="0" rIns="0" bIns="0" rtlCol="0" anchor="t"/>
          <a:lstStyle/>
          <a:p>
            <a:pPr marL="0" indent="0" algn="l">
              <a:lnSpc>
                <a:spcPts val="4050"/>
              </a:lnSpc>
              <a:buNone/>
            </a:pPr>
            <a:r>
              <a:rPr lang="en-US" sz="3250" b="1" dirty="0">
                <a:solidFill>
                  <a:srgbClr val="FFFFFF"/>
                </a:solidFill>
                <a:latin typeface="Kanit" pitchFamily="34" charset="0"/>
                <a:ea typeface="Kanit" pitchFamily="34" charset="-122"/>
                <a:cs typeface="Kanit" pitchFamily="34" charset="-120"/>
              </a:rPr>
              <a:t>Categorical Feature ('Type') vs. Operational Parameters</a:t>
            </a:r>
            <a:endParaRPr lang="en-US" sz="3250" dirty="0"/>
          </a:p>
        </p:txBody>
      </p:sp>
      <p:sp>
        <p:nvSpPr>
          <p:cNvPr id="3" name="Text 1"/>
          <p:cNvSpPr/>
          <p:nvPr/>
        </p:nvSpPr>
        <p:spPr>
          <a:xfrm>
            <a:off x="616982" y="1355884"/>
            <a:ext cx="13396436" cy="282059"/>
          </a:xfrm>
          <a:prstGeom prst="rect">
            <a:avLst/>
          </a:prstGeom>
          <a:noFill/>
        </p:spPr>
        <p:txBody>
          <a:bodyPr wrap="none" lIns="0" tIns="0" rIns="0" bIns="0" rtlCol="0" anchor="t"/>
          <a:lstStyle/>
          <a:p>
            <a:pPr marL="342900" indent="-342900" algn="l">
              <a:lnSpc>
                <a:spcPts val="2200"/>
              </a:lnSpc>
              <a:buSzPct val="100000"/>
              <a:buChar char="•"/>
            </a:pPr>
            <a:r>
              <a:rPr lang="en-US" sz="13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Analyzed the distribution of operational parameters across Machine Types (H, L, M).</a:t>
            </a:r>
            <a:endParaRPr lang="en-US" sz="1350" dirty="0"/>
          </a:p>
        </p:txBody>
      </p:sp>
      <p:sp>
        <p:nvSpPr>
          <p:cNvPr id="4" name="Text 2"/>
          <p:cNvSpPr/>
          <p:nvPr/>
        </p:nvSpPr>
        <p:spPr>
          <a:xfrm>
            <a:off x="616982" y="1699617"/>
            <a:ext cx="13396436" cy="282059"/>
          </a:xfrm>
          <a:prstGeom prst="rect">
            <a:avLst/>
          </a:prstGeom>
          <a:noFill/>
        </p:spPr>
        <p:txBody>
          <a:bodyPr wrap="none" lIns="0" tIns="0" rIns="0" bIns="0" rtlCol="0" anchor="t"/>
          <a:lstStyle/>
          <a:p>
            <a:pPr marL="342900" indent="-342900" algn="l">
              <a:lnSpc>
                <a:spcPts val="2200"/>
              </a:lnSpc>
              <a:buSzPct val="100000"/>
              <a:buChar char="•"/>
            </a:pPr>
            <a:r>
              <a:rPr lang="en-US" sz="13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Observations: </a:t>
            </a:r>
            <a:endParaRPr lang="en-US" sz="1350" dirty="0"/>
          </a:p>
        </p:txBody>
      </p:sp>
      <p:sp>
        <p:nvSpPr>
          <p:cNvPr id="5" name="Text 3"/>
          <p:cNvSpPr/>
          <p:nvPr/>
        </p:nvSpPr>
        <p:spPr>
          <a:xfrm>
            <a:off x="616982" y="2179915"/>
            <a:ext cx="13396436" cy="282059"/>
          </a:xfrm>
          <a:prstGeom prst="rect">
            <a:avLst/>
          </a:prstGeom>
          <a:noFill/>
        </p:spPr>
        <p:txBody>
          <a:bodyPr wrap="none" lIns="0" tIns="0" rIns="0" bIns="0" rtlCol="0" anchor="t"/>
          <a:lstStyle/>
          <a:p>
            <a:pPr marL="0" indent="0" algn="l">
              <a:lnSpc>
                <a:spcPts val="2200"/>
              </a:lnSpc>
              <a:buNone/>
            </a:pPr>
            <a:r>
              <a:rPr lang="en-US" sz="13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Exploring relationship between 'Type' and numerical features (group box plots)</a:t>
            </a:r>
            <a:endParaRPr lang="en-US" sz="1350" dirty="0"/>
          </a:p>
        </p:txBody>
      </p:sp>
      <p:pic>
        <p:nvPicPr>
          <p:cNvPr id="6" name="Image 0" descr="preencoded.png"/>
          <p:cNvPicPr>
            <a:picLocks noChangeAspect="1"/>
          </p:cNvPicPr>
          <p:nvPr/>
        </p:nvPicPr>
        <p:blipFill>
          <a:blip r:embed="rId1"/>
          <a:stretch>
            <a:fillRect/>
          </a:stretch>
        </p:blipFill>
        <p:spPr>
          <a:xfrm>
            <a:off x="616982" y="2858453"/>
            <a:ext cx="5888712" cy="3907274"/>
          </a:xfrm>
          <a:prstGeom prst="rect">
            <a:avLst/>
          </a:prstGeom>
        </p:spPr>
      </p:pic>
      <p:sp>
        <p:nvSpPr>
          <p:cNvPr id="7" name="Text 4"/>
          <p:cNvSpPr/>
          <p:nvPr/>
        </p:nvSpPr>
        <p:spPr>
          <a:xfrm>
            <a:off x="9473446" y="2818805"/>
            <a:ext cx="4547473" cy="846177"/>
          </a:xfrm>
          <a:prstGeom prst="rect">
            <a:avLst/>
          </a:prstGeom>
          <a:noFill/>
        </p:spPr>
        <p:txBody>
          <a:bodyPr wrap="square" lIns="0" tIns="0" rIns="0" bIns="0" rtlCol="0" anchor="t"/>
          <a:lstStyle/>
          <a:p>
            <a:pPr marL="0" indent="0" algn="l">
              <a:lnSpc>
                <a:spcPts val="2200"/>
              </a:lnSpc>
              <a:buNone/>
            </a:pPr>
            <a:r>
              <a:rPr lang="en-US" sz="13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Box Plots showing key operational parameters (e.g., Temperature, Speed, Torque) grouped by 'Type']</a:t>
            </a:r>
            <a:endParaRPr lang="en-US" sz="1350" dirty="0"/>
          </a:p>
        </p:txBody>
      </p:sp>
      <p:sp>
        <p:nvSpPr>
          <p:cNvPr id="8" name="Text 5"/>
          <p:cNvSpPr/>
          <p:nvPr/>
        </p:nvSpPr>
        <p:spPr>
          <a:xfrm>
            <a:off x="616982" y="7228403"/>
            <a:ext cx="4148376" cy="518517"/>
          </a:xfrm>
          <a:prstGeom prst="rect">
            <a:avLst/>
          </a:prstGeom>
          <a:noFill/>
        </p:spPr>
        <p:txBody>
          <a:bodyPr wrap="none" lIns="0" tIns="0" rIns="0" bIns="0" rtlCol="0" anchor="t"/>
          <a:lstStyle/>
          <a:p>
            <a:pPr marL="0" indent="0" algn="l">
              <a:lnSpc>
                <a:spcPts val="4050"/>
              </a:lnSpc>
              <a:buNone/>
            </a:pPr>
            <a:endParaRPr lang="en-US" sz="3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78193" y="981908"/>
            <a:ext cx="6265783" cy="6265783"/>
          </a:xfrm>
          <a:prstGeom prst="rect">
            <a:avLst/>
          </a:prstGeom>
        </p:spPr>
      </p:pic>
      <p:sp>
        <p:nvSpPr>
          <p:cNvPr id="3" name="Text 0"/>
          <p:cNvSpPr/>
          <p:nvPr/>
        </p:nvSpPr>
        <p:spPr>
          <a:xfrm>
            <a:off x="7594044" y="848558"/>
            <a:ext cx="6265783" cy="1307783"/>
          </a:xfrm>
          <a:prstGeom prst="rect">
            <a:avLst/>
          </a:prstGeom>
          <a:noFill/>
        </p:spPr>
        <p:txBody>
          <a:bodyPr wrap="square" lIns="0" tIns="0" rIns="0" bIns="0" rtlCol="0" anchor="t"/>
          <a:lstStyle/>
          <a:p>
            <a:pPr marL="0" indent="0" algn="l">
              <a:lnSpc>
                <a:spcPts val="5100"/>
              </a:lnSpc>
              <a:buNone/>
            </a:pPr>
            <a:r>
              <a:rPr lang="en-US" sz="4100" b="1" dirty="0">
                <a:solidFill>
                  <a:srgbClr val="FFFFFF"/>
                </a:solidFill>
                <a:latin typeface="Kanit" pitchFamily="34" charset="0"/>
                <a:ea typeface="Kanit" pitchFamily="34" charset="-122"/>
                <a:cs typeface="Kanit" pitchFamily="34" charset="-120"/>
              </a:rPr>
              <a:t>Target Variable Distribution</a:t>
            </a:r>
            <a:endParaRPr lang="en-US" sz="4100" dirty="0"/>
          </a:p>
        </p:txBody>
      </p:sp>
      <p:sp>
        <p:nvSpPr>
          <p:cNvPr id="4" name="Text 1"/>
          <p:cNvSpPr/>
          <p:nvPr/>
        </p:nvSpPr>
        <p:spPr>
          <a:xfrm>
            <a:off x="7594044" y="2378631"/>
            <a:ext cx="6265783" cy="711518"/>
          </a:xfrm>
          <a:prstGeom prst="rect">
            <a:avLst/>
          </a:prstGeom>
          <a:noFill/>
        </p:spPr>
        <p:txBody>
          <a:bodyPr wrap="square" lIns="0" tIns="0" rIns="0" bIns="0" rtlCol="0" anchor="t"/>
          <a:lstStyle/>
          <a:p>
            <a:pPr marL="0" indent="0" algn="l">
              <a:lnSpc>
                <a:spcPts val="2800"/>
              </a:lnSpc>
              <a:buNone/>
            </a:pPr>
            <a:r>
              <a:rPr lang="en-US" sz="17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Machine Failure Class Distribution: No Failure (0): 9661 (96.61%) Failure (1): 339 (3.39%)</a:t>
            </a:r>
            <a:endParaRPr lang="en-US" sz="1750" dirty="0"/>
          </a:p>
        </p:txBody>
      </p:sp>
      <p:sp>
        <p:nvSpPr>
          <p:cNvPr id="5" name="Text 2"/>
          <p:cNvSpPr/>
          <p:nvPr/>
        </p:nvSpPr>
        <p:spPr>
          <a:xfrm>
            <a:off x="7594044" y="3290173"/>
            <a:ext cx="6265783" cy="711518"/>
          </a:xfrm>
          <a:prstGeom prst="rect">
            <a:avLst/>
          </a:prstGeom>
          <a:noFill/>
        </p:spPr>
        <p:txBody>
          <a:bodyPr wrap="square" lIns="0" tIns="0" rIns="0" bIns="0" rtlCol="0" anchor="t"/>
          <a:lstStyle/>
          <a:p>
            <a:pPr marL="0" indent="0" algn="l">
              <a:lnSpc>
                <a:spcPts val="2800"/>
              </a:lnSpc>
              <a:buNone/>
            </a:pPr>
            <a:r>
              <a:rPr lang="en-US" sz="17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'Machine failure' dataset is likely imbalanced. Potential Impact:</a:t>
            </a:r>
            <a:endParaRPr lang="en-US" sz="1750" dirty="0"/>
          </a:p>
        </p:txBody>
      </p:sp>
      <p:sp>
        <p:nvSpPr>
          <p:cNvPr id="6" name="Text 3"/>
          <p:cNvSpPr/>
          <p:nvPr/>
        </p:nvSpPr>
        <p:spPr>
          <a:xfrm>
            <a:off x="7594044" y="4201716"/>
            <a:ext cx="6265783" cy="711518"/>
          </a:xfrm>
          <a:prstGeom prst="rect">
            <a:avLst/>
          </a:prstGeom>
          <a:noFill/>
        </p:spPr>
        <p:txBody>
          <a:bodyPr wrap="square" lIns="0" tIns="0" rIns="0" bIns="0" rtlCol="0" anchor="t"/>
          <a:lstStyle/>
          <a:p>
            <a:pPr marL="342900" indent="-342900" algn="l">
              <a:lnSpc>
                <a:spcPts val="2800"/>
              </a:lnSpc>
              <a:buSzPct val="100000"/>
              <a:buChar char="•"/>
            </a:pPr>
            <a:r>
              <a:rPr lang="en-US" sz="17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Models might be biased towards the majority class (No Failure).</a:t>
            </a:r>
            <a:endParaRPr lang="en-US" sz="1750" dirty="0"/>
          </a:p>
        </p:txBody>
      </p:sp>
      <p:sp>
        <p:nvSpPr>
          <p:cNvPr id="7" name="Text 4"/>
          <p:cNvSpPr/>
          <p:nvPr/>
        </p:nvSpPr>
        <p:spPr>
          <a:xfrm>
            <a:off x="7594044" y="4990981"/>
            <a:ext cx="6265783" cy="355759"/>
          </a:xfrm>
          <a:prstGeom prst="rect">
            <a:avLst/>
          </a:prstGeom>
          <a:noFill/>
        </p:spPr>
        <p:txBody>
          <a:bodyPr wrap="none" lIns="0" tIns="0" rIns="0" bIns="0" rtlCol="0" anchor="t"/>
          <a:lstStyle/>
          <a:p>
            <a:pPr marL="342900" indent="-342900" algn="l">
              <a:lnSpc>
                <a:spcPts val="2800"/>
              </a:lnSpc>
              <a:buSzPct val="100000"/>
              <a:buChar char="•"/>
            </a:pPr>
            <a:r>
              <a:rPr lang="en-US" sz="17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Performance metrics like accuracy can be misleading.</a:t>
            </a:r>
            <a:endParaRPr lang="en-US" sz="1750" dirty="0"/>
          </a:p>
        </p:txBody>
      </p:sp>
      <p:sp>
        <p:nvSpPr>
          <p:cNvPr id="8" name="Text 5"/>
          <p:cNvSpPr/>
          <p:nvPr/>
        </p:nvSpPr>
        <p:spPr>
          <a:xfrm>
            <a:off x="7594044" y="5424488"/>
            <a:ext cx="6265783" cy="1423035"/>
          </a:xfrm>
          <a:prstGeom prst="rect">
            <a:avLst/>
          </a:prstGeom>
          <a:noFill/>
        </p:spPr>
        <p:txBody>
          <a:bodyPr wrap="square" lIns="0" tIns="0" rIns="0" bIns="0" rtlCol="0" anchor="t"/>
          <a:lstStyle/>
          <a:p>
            <a:pPr marL="342900" indent="-342900" algn="l">
              <a:lnSpc>
                <a:spcPts val="2800"/>
              </a:lnSpc>
              <a:buSzPct val="100000"/>
              <a:buChar char="•"/>
            </a:pPr>
            <a:r>
              <a:rPr lang="en-US" sz="17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It might be necessary to use specialized techniques to handle the imbalance (e.g., oversampling the minority class, undersampling the majority class, using different evaluation metrics).</a:t>
            </a:r>
            <a:endParaRPr lang="en-US" sz="1750" dirty="0"/>
          </a:p>
        </p:txBody>
      </p:sp>
      <p:sp>
        <p:nvSpPr>
          <p:cNvPr id="9" name="Text 6"/>
          <p:cNvSpPr/>
          <p:nvPr/>
        </p:nvSpPr>
        <p:spPr>
          <a:xfrm>
            <a:off x="7594044" y="7047548"/>
            <a:ext cx="6265783" cy="355759"/>
          </a:xfrm>
          <a:prstGeom prst="rect">
            <a:avLst/>
          </a:prstGeom>
          <a:noFill/>
        </p:spPr>
        <p:txBody>
          <a:bodyPr wrap="none" lIns="0" tIns="0" rIns="0" bIns="0" rtlCol="0" anchor="t"/>
          <a:lstStyle/>
          <a:p>
            <a:pPr marL="0" indent="0" algn="l">
              <a:lnSpc>
                <a:spcPts val="2800"/>
              </a:lnSpc>
              <a:buNone/>
            </a:pP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37724" y="930712"/>
            <a:ext cx="7532608" cy="5305187"/>
          </a:xfrm>
          <a:prstGeom prst="rect">
            <a:avLst/>
          </a:prstGeom>
        </p:spPr>
      </p:pic>
      <p:pic>
        <p:nvPicPr>
          <p:cNvPr id="3" name="Image 1" descr="preencoded.png"/>
          <p:cNvPicPr>
            <a:picLocks noChangeAspect="1"/>
          </p:cNvPicPr>
          <p:nvPr/>
        </p:nvPicPr>
        <p:blipFill>
          <a:blip r:embed="rId2"/>
          <a:stretch>
            <a:fillRect/>
          </a:stretch>
        </p:blipFill>
        <p:spPr>
          <a:xfrm>
            <a:off x="8968621" y="930712"/>
            <a:ext cx="3867626" cy="988219"/>
          </a:xfrm>
          <a:prstGeom prst="rect">
            <a:avLst/>
          </a:prstGeom>
        </p:spPr>
      </p:pic>
      <p:sp>
        <p:nvSpPr>
          <p:cNvPr id="4" name="Text 0"/>
          <p:cNvSpPr/>
          <p:nvPr/>
        </p:nvSpPr>
        <p:spPr>
          <a:xfrm>
            <a:off x="8968621" y="2188131"/>
            <a:ext cx="4831556" cy="704017"/>
          </a:xfrm>
          <a:prstGeom prst="rect">
            <a:avLst/>
          </a:prstGeom>
          <a:noFill/>
        </p:spPr>
        <p:txBody>
          <a:bodyPr wrap="none" lIns="0" tIns="0" rIns="0" bIns="0" rtlCol="0" anchor="t"/>
          <a:lstStyle/>
          <a:p>
            <a:pPr marL="0" indent="0" algn="l">
              <a:lnSpc>
                <a:spcPts val="5500"/>
              </a:lnSpc>
              <a:buNone/>
            </a:pPr>
            <a:endParaRPr lang="en-US" sz="4400" dirty="0"/>
          </a:p>
        </p:txBody>
      </p:sp>
      <p:sp>
        <p:nvSpPr>
          <p:cNvPr id="5" name="Text 1"/>
          <p:cNvSpPr/>
          <p:nvPr/>
        </p:nvSpPr>
        <p:spPr>
          <a:xfrm>
            <a:off x="837724" y="6864072"/>
            <a:ext cx="5632490" cy="704017"/>
          </a:xfrm>
          <a:prstGeom prst="rect">
            <a:avLst/>
          </a:prstGeom>
          <a:noFill/>
        </p:spPr>
        <p:txBody>
          <a:bodyPr wrap="none" lIns="0" tIns="0" rIns="0" bIns="0" rtlCol="0" anchor="t"/>
          <a:lstStyle/>
          <a:p>
            <a:pPr marL="0" indent="0" algn="l">
              <a:lnSpc>
                <a:spcPts val="5500"/>
              </a:lnSpc>
              <a:buNone/>
            </a:pPr>
            <a:endParaRPr lang="en-US" sz="4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724" y="674370"/>
            <a:ext cx="5883473" cy="704017"/>
          </a:xfrm>
          <a:prstGeom prst="rect">
            <a:avLst/>
          </a:prstGeom>
          <a:noFill/>
        </p:spPr>
        <p:txBody>
          <a:bodyPr wrap="none" lIns="0" tIns="0" rIns="0" bIns="0" rtlCol="0" anchor="t"/>
          <a:lstStyle/>
          <a:p>
            <a:pPr marL="0" indent="0" algn="l">
              <a:lnSpc>
                <a:spcPts val="5500"/>
              </a:lnSpc>
              <a:buNone/>
            </a:pPr>
            <a:r>
              <a:rPr lang="en-US" sz="4400" b="1" dirty="0">
                <a:solidFill>
                  <a:srgbClr val="FFFFFF"/>
                </a:solidFill>
                <a:latin typeface="Kanit" pitchFamily="34" charset="0"/>
                <a:ea typeface="Kanit" pitchFamily="34" charset="-122"/>
                <a:cs typeface="Kanit" pitchFamily="34" charset="-120"/>
              </a:rPr>
              <a:t>Tool Wear Distribution</a:t>
            </a:r>
            <a:endParaRPr lang="en-US" sz="4400" dirty="0"/>
          </a:p>
        </p:txBody>
      </p:sp>
      <p:sp>
        <p:nvSpPr>
          <p:cNvPr id="3" name="Text 1"/>
          <p:cNvSpPr/>
          <p:nvPr/>
        </p:nvSpPr>
        <p:spPr>
          <a:xfrm>
            <a:off x="837724" y="1857137"/>
            <a:ext cx="12954952" cy="383024"/>
          </a:xfrm>
          <a:prstGeom prst="rect">
            <a:avLst/>
          </a:prstGeom>
          <a:noFill/>
        </p:spPr>
        <p:txBody>
          <a:bodyPr wrap="none" lIns="0" tIns="0" rIns="0" bIns="0" rtlCol="0" anchor="t"/>
          <a:lstStyle/>
          <a:p>
            <a:pPr marL="342900" indent="-342900" algn="l">
              <a:lnSpc>
                <a:spcPts val="3000"/>
              </a:lnSpc>
              <a:buSzPct val="100000"/>
              <a:buChar char="•"/>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Continuous Target: Remaining Tool Wear in Minutes</a:t>
            </a:r>
            <a:endParaRPr lang="en-US" sz="1850" dirty="0"/>
          </a:p>
        </p:txBody>
      </p:sp>
      <p:sp>
        <p:nvSpPr>
          <p:cNvPr id="4" name="Text 2"/>
          <p:cNvSpPr/>
          <p:nvPr/>
        </p:nvSpPr>
        <p:spPr>
          <a:xfrm>
            <a:off x="837724" y="2599134"/>
            <a:ext cx="6376749" cy="704017"/>
          </a:xfrm>
          <a:prstGeom prst="rect">
            <a:avLst/>
          </a:prstGeom>
          <a:noFill/>
        </p:spPr>
        <p:txBody>
          <a:bodyPr wrap="none" lIns="0" tIns="0" rIns="0" bIns="0" rtlCol="0" anchor="t"/>
          <a:lstStyle/>
          <a:p>
            <a:pPr marL="0" indent="0" algn="l">
              <a:lnSpc>
                <a:spcPts val="5500"/>
              </a:lnSpc>
              <a:buNone/>
            </a:pPr>
            <a:r>
              <a:rPr lang="en-US" sz="4400" dirty="0">
                <a:solidFill>
                  <a:srgbClr val="FFFFFF"/>
                </a:solidFill>
                <a:latin typeface="Kanit" pitchFamily="34" charset="0"/>
                <a:ea typeface="Kanit" pitchFamily="34" charset="-122"/>
                <a:cs typeface="Kanit" pitchFamily="34" charset="-120"/>
              </a:rPr>
              <a:t>Minimum Tool Wear: 0.00</a:t>
            </a:r>
            <a:endParaRPr lang="en-US" sz="4400" dirty="0"/>
          </a:p>
        </p:txBody>
      </p:sp>
      <p:sp>
        <p:nvSpPr>
          <p:cNvPr id="5" name="Text 3"/>
          <p:cNvSpPr/>
          <p:nvPr/>
        </p:nvSpPr>
        <p:spPr>
          <a:xfrm>
            <a:off x="837724" y="3662124"/>
            <a:ext cx="7244596" cy="704017"/>
          </a:xfrm>
          <a:prstGeom prst="rect">
            <a:avLst/>
          </a:prstGeom>
          <a:noFill/>
        </p:spPr>
        <p:txBody>
          <a:bodyPr wrap="none" lIns="0" tIns="0" rIns="0" bIns="0" rtlCol="0" anchor="t"/>
          <a:lstStyle/>
          <a:p>
            <a:pPr marL="0" indent="0" algn="l">
              <a:lnSpc>
                <a:spcPts val="5500"/>
              </a:lnSpc>
              <a:buNone/>
            </a:pPr>
            <a:r>
              <a:rPr lang="en-US" sz="4400" dirty="0">
                <a:solidFill>
                  <a:srgbClr val="FFFFFF"/>
                </a:solidFill>
                <a:latin typeface="Kanit" pitchFamily="34" charset="0"/>
                <a:ea typeface="Kanit" pitchFamily="34" charset="-122"/>
                <a:cs typeface="Kanit" pitchFamily="34" charset="-120"/>
              </a:rPr>
              <a:t> Maximum Tool Wear: 253.00 </a:t>
            </a:r>
            <a:endParaRPr lang="en-US" sz="4400" dirty="0"/>
          </a:p>
        </p:txBody>
      </p:sp>
      <p:sp>
        <p:nvSpPr>
          <p:cNvPr id="6" name="Text 4"/>
          <p:cNvSpPr/>
          <p:nvPr/>
        </p:nvSpPr>
        <p:spPr>
          <a:xfrm>
            <a:off x="837724" y="4725114"/>
            <a:ext cx="5859780" cy="704017"/>
          </a:xfrm>
          <a:prstGeom prst="rect">
            <a:avLst/>
          </a:prstGeom>
          <a:noFill/>
        </p:spPr>
        <p:txBody>
          <a:bodyPr wrap="none" lIns="0" tIns="0" rIns="0" bIns="0" rtlCol="0" anchor="t"/>
          <a:lstStyle/>
          <a:p>
            <a:pPr marL="0" indent="0" algn="l">
              <a:lnSpc>
                <a:spcPts val="5500"/>
              </a:lnSpc>
              <a:buNone/>
            </a:pPr>
            <a:r>
              <a:rPr lang="en-US" sz="4400" dirty="0">
                <a:solidFill>
                  <a:srgbClr val="FFFFFF"/>
                </a:solidFill>
                <a:latin typeface="Kanit" pitchFamily="34" charset="0"/>
                <a:ea typeface="Kanit" pitchFamily="34" charset="-122"/>
                <a:cs typeface="Kanit" pitchFamily="34" charset="-120"/>
              </a:rPr>
              <a:t>Mean Tool Wear: 107.95 </a:t>
            </a:r>
            <a:endParaRPr lang="en-US" sz="4400" dirty="0"/>
          </a:p>
        </p:txBody>
      </p:sp>
      <p:sp>
        <p:nvSpPr>
          <p:cNvPr id="7" name="Text 5"/>
          <p:cNvSpPr/>
          <p:nvPr/>
        </p:nvSpPr>
        <p:spPr>
          <a:xfrm>
            <a:off x="837724" y="5788104"/>
            <a:ext cx="6520339" cy="704017"/>
          </a:xfrm>
          <a:prstGeom prst="rect">
            <a:avLst/>
          </a:prstGeom>
          <a:noFill/>
        </p:spPr>
        <p:txBody>
          <a:bodyPr wrap="none" lIns="0" tIns="0" rIns="0" bIns="0" rtlCol="0" anchor="t"/>
          <a:lstStyle/>
          <a:p>
            <a:pPr marL="0" indent="0" algn="l">
              <a:lnSpc>
                <a:spcPts val="5500"/>
              </a:lnSpc>
              <a:buNone/>
            </a:pPr>
            <a:r>
              <a:rPr lang="en-US" sz="4400" dirty="0">
                <a:solidFill>
                  <a:srgbClr val="FFFFFF"/>
                </a:solidFill>
                <a:latin typeface="Kanit" pitchFamily="34" charset="0"/>
                <a:ea typeface="Kanit" pitchFamily="34" charset="-122"/>
                <a:cs typeface="Kanit" pitchFamily="34" charset="-120"/>
              </a:rPr>
              <a:t>Median Tool Wear: 108.00 </a:t>
            </a:r>
            <a:endParaRPr lang="en-US" sz="4400" dirty="0"/>
          </a:p>
        </p:txBody>
      </p:sp>
      <p:sp>
        <p:nvSpPr>
          <p:cNvPr id="8" name="Text 6"/>
          <p:cNvSpPr/>
          <p:nvPr/>
        </p:nvSpPr>
        <p:spPr>
          <a:xfrm>
            <a:off x="837724" y="6851094"/>
            <a:ext cx="9657755" cy="704017"/>
          </a:xfrm>
          <a:prstGeom prst="rect">
            <a:avLst/>
          </a:prstGeom>
          <a:noFill/>
        </p:spPr>
        <p:txBody>
          <a:bodyPr wrap="none" lIns="0" tIns="0" rIns="0" bIns="0" rtlCol="0" anchor="t"/>
          <a:lstStyle/>
          <a:p>
            <a:pPr marL="0" indent="0" algn="l">
              <a:lnSpc>
                <a:spcPts val="5500"/>
              </a:lnSpc>
              <a:buNone/>
            </a:pPr>
            <a:r>
              <a:rPr lang="en-US" sz="4400" dirty="0">
                <a:solidFill>
                  <a:srgbClr val="FFFFFF"/>
                </a:solidFill>
                <a:latin typeface="Kanit" pitchFamily="34" charset="0"/>
                <a:ea typeface="Kanit" pitchFamily="34" charset="-122"/>
                <a:cs typeface="Kanit" pitchFamily="34" charset="-120"/>
              </a:rPr>
              <a:t>Standard Deviation of Tool Wear: 63.65</a:t>
            </a:r>
            <a:endParaRPr lang="en-US" sz="4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418862" y="463629"/>
            <a:ext cx="6358533" cy="4091821"/>
          </a:xfrm>
          <a:prstGeom prst="rect">
            <a:avLst/>
          </a:prstGeom>
        </p:spPr>
      </p:pic>
      <p:sp>
        <p:nvSpPr>
          <p:cNvPr id="3" name="Text 0"/>
          <p:cNvSpPr/>
          <p:nvPr/>
        </p:nvSpPr>
        <p:spPr>
          <a:xfrm>
            <a:off x="11412379" y="436721"/>
            <a:ext cx="2806660" cy="191453"/>
          </a:xfrm>
          <a:prstGeom prst="rect">
            <a:avLst/>
          </a:prstGeom>
          <a:noFill/>
        </p:spPr>
        <p:txBody>
          <a:bodyPr wrap="none" lIns="0" tIns="0" rIns="0" bIns="0" rtlCol="0" anchor="t"/>
          <a:lstStyle/>
          <a:p>
            <a:pPr marL="0" indent="0" algn="l">
              <a:lnSpc>
                <a:spcPts val="1500"/>
              </a:lnSpc>
              <a:buNone/>
            </a:pPr>
            <a:endParaRPr lang="en-US" sz="900" dirty="0"/>
          </a:p>
        </p:txBody>
      </p:sp>
      <p:pic>
        <p:nvPicPr>
          <p:cNvPr id="4" name="Image 1" descr="preencoded.png"/>
          <p:cNvPicPr>
            <a:picLocks noChangeAspect="1"/>
          </p:cNvPicPr>
          <p:nvPr/>
        </p:nvPicPr>
        <p:blipFill>
          <a:blip r:embed="rId2"/>
          <a:stretch>
            <a:fillRect/>
          </a:stretch>
        </p:blipFill>
        <p:spPr>
          <a:xfrm>
            <a:off x="418862" y="4959072"/>
            <a:ext cx="4218980" cy="2652593"/>
          </a:xfrm>
          <a:prstGeom prst="rect">
            <a:avLst/>
          </a:prstGeom>
        </p:spPr>
      </p:pic>
      <p:sp>
        <p:nvSpPr>
          <p:cNvPr id="5" name="Text 1"/>
          <p:cNvSpPr/>
          <p:nvPr/>
        </p:nvSpPr>
        <p:spPr>
          <a:xfrm>
            <a:off x="418862" y="7746206"/>
            <a:ext cx="10834807" cy="191453"/>
          </a:xfrm>
          <a:prstGeom prst="rect">
            <a:avLst/>
          </a:prstGeom>
          <a:noFill/>
        </p:spPr>
        <p:txBody>
          <a:bodyPr wrap="none" lIns="0" tIns="0" rIns="0" bIns="0" rtlCol="0" anchor="t"/>
          <a:lstStyle/>
          <a:p>
            <a:pPr marL="0" indent="0" algn="l">
              <a:lnSpc>
                <a:spcPts val="1500"/>
              </a:lnSpc>
              <a:buNone/>
            </a:pPr>
            <a:endParaRPr lang="en-US" sz="900" dirty="0"/>
          </a:p>
        </p:txBody>
      </p:sp>
      <p:sp>
        <p:nvSpPr>
          <p:cNvPr id="6" name="Text 2"/>
          <p:cNvSpPr/>
          <p:nvPr/>
        </p:nvSpPr>
        <p:spPr>
          <a:xfrm>
            <a:off x="11553230" y="4932164"/>
            <a:ext cx="2665809" cy="191453"/>
          </a:xfrm>
          <a:prstGeom prst="rect">
            <a:avLst/>
          </a:prstGeom>
          <a:noFill/>
        </p:spPr>
        <p:txBody>
          <a:bodyPr wrap="none" lIns="0" tIns="0" rIns="0" bIns="0" rtlCol="0" anchor="t"/>
          <a:lstStyle/>
          <a:p>
            <a:pPr marL="0" indent="0" algn="l">
              <a:lnSpc>
                <a:spcPts val="1500"/>
              </a:lnSpc>
              <a:buNone/>
            </a:pPr>
            <a:endParaRPr lang="en-US" sz="900" dirty="0"/>
          </a:p>
        </p:txBody>
      </p:sp>
      <p:sp>
        <p:nvSpPr>
          <p:cNvPr id="7" name="Text 3"/>
          <p:cNvSpPr/>
          <p:nvPr/>
        </p:nvSpPr>
        <p:spPr>
          <a:xfrm>
            <a:off x="418862" y="8224718"/>
            <a:ext cx="2816185" cy="351949"/>
          </a:xfrm>
          <a:prstGeom prst="rect">
            <a:avLst/>
          </a:prstGeom>
          <a:noFill/>
        </p:spPr>
        <p:txBody>
          <a:bodyPr wrap="none" lIns="0" tIns="0" rIns="0" bIns="0" rtlCol="0" anchor="t"/>
          <a:lstStyle/>
          <a:p>
            <a:pPr marL="0" indent="0" algn="l">
              <a:lnSpc>
                <a:spcPts val="2750"/>
              </a:lnSpc>
              <a:buNone/>
            </a:pP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37724" y="1022033"/>
            <a:ext cx="6185535" cy="6185535"/>
          </a:xfrm>
          <a:prstGeom prst="rect">
            <a:avLst/>
          </a:prstGeom>
        </p:spPr>
      </p:pic>
      <p:sp>
        <p:nvSpPr>
          <p:cNvPr id="3" name="Text 0"/>
          <p:cNvSpPr/>
          <p:nvPr/>
        </p:nvSpPr>
        <p:spPr>
          <a:xfrm>
            <a:off x="7614761" y="2960965"/>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FFFFFF"/>
                </a:solidFill>
                <a:latin typeface="Kanit" pitchFamily="34" charset="0"/>
                <a:ea typeface="Kanit" pitchFamily="34" charset="-122"/>
                <a:cs typeface="Kanit" pitchFamily="34" charset="-120"/>
              </a:rPr>
              <a:t>Feature Engineering</a:t>
            </a:r>
            <a:endParaRPr lang="en-US" sz="2200" dirty="0"/>
          </a:p>
        </p:txBody>
      </p:sp>
      <p:sp>
        <p:nvSpPr>
          <p:cNvPr id="4" name="Text 1"/>
          <p:cNvSpPr/>
          <p:nvPr/>
        </p:nvSpPr>
        <p:spPr>
          <a:xfrm>
            <a:off x="7614761" y="3552230"/>
            <a:ext cx="2816185" cy="351949"/>
          </a:xfrm>
          <a:prstGeom prst="rect">
            <a:avLst/>
          </a:prstGeom>
          <a:noFill/>
        </p:spPr>
        <p:txBody>
          <a:bodyPr wrap="none" lIns="0" tIns="0" rIns="0" bIns="0" rtlCol="0" anchor="t"/>
          <a:lstStyle/>
          <a:p>
            <a:pPr marL="0" indent="0" algn="l">
              <a:lnSpc>
                <a:spcPts val="2750"/>
              </a:lnSpc>
              <a:buNone/>
            </a:pPr>
            <a:endParaRPr lang="en-US" sz="2200" dirty="0"/>
          </a:p>
        </p:txBody>
      </p:sp>
      <p:sp>
        <p:nvSpPr>
          <p:cNvPr id="5" name="Text 2"/>
          <p:cNvSpPr/>
          <p:nvPr/>
        </p:nvSpPr>
        <p:spPr>
          <a:xfrm>
            <a:off x="7614761" y="4143494"/>
            <a:ext cx="6185535" cy="1149072"/>
          </a:xfrm>
          <a:prstGeom prst="rect">
            <a:avLst/>
          </a:prstGeom>
          <a:noFill/>
        </p:spPr>
        <p:txBody>
          <a:bodyPr wrap="square" lIns="0" tIns="0" rIns="0" bIns="0" rtlCol="0" anchor="t"/>
          <a:lstStyle/>
          <a:p>
            <a:pPr marL="0" indent="0" algn="l">
              <a:lnSpc>
                <a:spcPts val="3000"/>
              </a:lnSpc>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New features like temperature difference, squared terms, torque/speed ratio, lagged values, and rolling statistics were created to improve model performance.</a:t>
            </a: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2362200"/>
          </a:xfrm>
          <a:prstGeom prst="rect">
            <a:avLst/>
          </a:prstGeom>
        </p:spPr>
      </p:pic>
      <p:sp>
        <p:nvSpPr>
          <p:cNvPr id="3" name="Text 0"/>
          <p:cNvSpPr/>
          <p:nvPr/>
        </p:nvSpPr>
        <p:spPr>
          <a:xfrm>
            <a:off x="661392" y="2881908"/>
            <a:ext cx="9132094" cy="555784"/>
          </a:xfrm>
          <a:prstGeom prst="rect">
            <a:avLst/>
          </a:prstGeom>
          <a:noFill/>
        </p:spPr>
        <p:txBody>
          <a:bodyPr wrap="none" lIns="0" tIns="0" rIns="0" bIns="0" rtlCol="0" anchor="t"/>
          <a:lstStyle/>
          <a:p>
            <a:pPr marL="0" indent="0" algn="l">
              <a:lnSpc>
                <a:spcPts val="4350"/>
              </a:lnSpc>
              <a:buNone/>
            </a:pPr>
            <a:r>
              <a:rPr lang="en-US" sz="3500" dirty="0">
                <a:solidFill>
                  <a:srgbClr val="FFFFFF"/>
                </a:solidFill>
                <a:latin typeface="Kanit" pitchFamily="34" charset="0"/>
                <a:ea typeface="Kanit" pitchFamily="34" charset="-122"/>
                <a:cs typeface="Kanit" pitchFamily="34" charset="-120"/>
              </a:rPr>
              <a:t>Model Building and Evaluation (Classification)</a:t>
            </a:r>
            <a:endParaRPr lang="en-US" sz="3500" dirty="0"/>
          </a:p>
        </p:txBody>
      </p:sp>
      <p:pic>
        <p:nvPicPr>
          <p:cNvPr id="4" name="Image 1" descr="preencoded.png"/>
          <p:cNvPicPr>
            <a:picLocks noChangeAspect="1"/>
          </p:cNvPicPr>
          <p:nvPr/>
        </p:nvPicPr>
        <p:blipFill>
          <a:blip r:embed="rId2"/>
          <a:stretch>
            <a:fillRect/>
          </a:stretch>
        </p:blipFill>
        <p:spPr>
          <a:xfrm>
            <a:off x="661392" y="3754041"/>
            <a:ext cx="472440" cy="472440"/>
          </a:xfrm>
          <a:prstGeom prst="rect">
            <a:avLst/>
          </a:prstGeom>
        </p:spPr>
      </p:pic>
      <p:sp>
        <p:nvSpPr>
          <p:cNvPr id="5" name="Text 1"/>
          <p:cNvSpPr/>
          <p:nvPr/>
        </p:nvSpPr>
        <p:spPr>
          <a:xfrm>
            <a:off x="1322784" y="3833217"/>
            <a:ext cx="2223254" cy="277773"/>
          </a:xfrm>
          <a:prstGeom prst="rect">
            <a:avLst/>
          </a:prstGeom>
          <a:noFill/>
        </p:spPr>
        <p:txBody>
          <a:bodyPr wrap="none" lIns="0" tIns="0" rIns="0" bIns="0" rtlCol="0" anchor="t"/>
          <a:lstStyle/>
          <a:p>
            <a:pPr marL="0" indent="0" algn="l">
              <a:lnSpc>
                <a:spcPts val="2150"/>
              </a:lnSpc>
              <a:buNone/>
            </a:pPr>
            <a:r>
              <a:rPr lang="en-US" sz="1750" dirty="0">
                <a:solidFill>
                  <a:srgbClr val="D9E1FF"/>
                </a:solidFill>
                <a:latin typeface="Kanit" pitchFamily="34" charset="0"/>
                <a:ea typeface="Kanit" pitchFamily="34" charset="-122"/>
                <a:cs typeface="Kanit" pitchFamily="34" charset="-120"/>
              </a:rPr>
              <a:t>Logistic Regression</a:t>
            </a:r>
            <a:endParaRPr lang="en-US" sz="1750" dirty="0"/>
          </a:p>
        </p:txBody>
      </p:sp>
      <p:sp>
        <p:nvSpPr>
          <p:cNvPr id="6" name="Text 2"/>
          <p:cNvSpPr/>
          <p:nvPr/>
        </p:nvSpPr>
        <p:spPr>
          <a:xfrm>
            <a:off x="1322784" y="4224338"/>
            <a:ext cx="12646223" cy="302300"/>
          </a:xfrm>
          <a:prstGeom prst="rect">
            <a:avLst/>
          </a:prstGeom>
          <a:noFill/>
        </p:spPr>
        <p:txBody>
          <a:bodyPr wrap="none" lIns="0" tIns="0" rIns="0" bIns="0" rtlCol="0" anchor="t"/>
          <a:lstStyle/>
          <a:p>
            <a:pPr marL="0" indent="0" algn="l">
              <a:lnSpc>
                <a:spcPts val="2350"/>
              </a:lnSpc>
              <a:buNone/>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 Logistic Regression model with balanced class weights was trained and evaluated.</a:t>
            </a:r>
            <a:endParaRPr lang="en-US" sz="1450" dirty="0"/>
          </a:p>
        </p:txBody>
      </p:sp>
      <p:pic>
        <p:nvPicPr>
          <p:cNvPr id="7" name="Image 2" descr="preencoded.png"/>
          <p:cNvPicPr>
            <a:picLocks noChangeAspect="1"/>
          </p:cNvPicPr>
          <p:nvPr/>
        </p:nvPicPr>
        <p:blipFill>
          <a:blip r:embed="rId3"/>
          <a:stretch>
            <a:fillRect/>
          </a:stretch>
        </p:blipFill>
        <p:spPr>
          <a:xfrm>
            <a:off x="661392" y="4937522"/>
            <a:ext cx="472440" cy="472440"/>
          </a:xfrm>
          <a:prstGeom prst="rect">
            <a:avLst/>
          </a:prstGeom>
        </p:spPr>
      </p:pic>
      <p:sp>
        <p:nvSpPr>
          <p:cNvPr id="8" name="Text 3"/>
          <p:cNvSpPr/>
          <p:nvPr/>
        </p:nvSpPr>
        <p:spPr>
          <a:xfrm>
            <a:off x="1322784" y="5016698"/>
            <a:ext cx="2223254" cy="277773"/>
          </a:xfrm>
          <a:prstGeom prst="rect">
            <a:avLst/>
          </a:prstGeom>
          <a:noFill/>
        </p:spPr>
        <p:txBody>
          <a:bodyPr wrap="none" lIns="0" tIns="0" rIns="0" bIns="0" rtlCol="0" anchor="t"/>
          <a:lstStyle/>
          <a:p>
            <a:pPr marL="0" indent="0" algn="l">
              <a:lnSpc>
                <a:spcPts val="2150"/>
              </a:lnSpc>
              <a:buNone/>
            </a:pPr>
            <a:r>
              <a:rPr lang="en-US" sz="1750" dirty="0">
                <a:solidFill>
                  <a:srgbClr val="D9E1FF"/>
                </a:solidFill>
                <a:latin typeface="Kanit" pitchFamily="34" charset="0"/>
                <a:ea typeface="Kanit" pitchFamily="34" charset="-122"/>
                <a:cs typeface="Kanit" pitchFamily="34" charset="-120"/>
              </a:rPr>
              <a:t>XGBoost</a:t>
            </a:r>
            <a:endParaRPr lang="en-US" sz="1750" dirty="0"/>
          </a:p>
        </p:txBody>
      </p:sp>
      <p:sp>
        <p:nvSpPr>
          <p:cNvPr id="9" name="Text 4"/>
          <p:cNvSpPr/>
          <p:nvPr/>
        </p:nvSpPr>
        <p:spPr>
          <a:xfrm>
            <a:off x="1322784" y="5407819"/>
            <a:ext cx="12646223" cy="302300"/>
          </a:xfrm>
          <a:prstGeom prst="rect">
            <a:avLst/>
          </a:prstGeom>
          <a:noFill/>
        </p:spPr>
        <p:txBody>
          <a:bodyPr wrap="none" lIns="0" tIns="0" rIns="0" bIns="0" rtlCol="0" anchor="t"/>
          <a:lstStyle/>
          <a:p>
            <a:pPr marL="0" indent="0" algn="l">
              <a:lnSpc>
                <a:spcPts val="2350"/>
              </a:lnSpc>
              <a:buNone/>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An XGBClassifier with balanced class weights was trained and evaluated.</a:t>
            </a:r>
            <a:endParaRPr lang="en-US" sz="1450" dirty="0"/>
          </a:p>
        </p:txBody>
      </p:sp>
      <p:pic>
        <p:nvPicPr>
          <p:cNvPr id="10" name="Image 3" descr="preencoded.png"/>
          <p:cNvPicPr>
            <a:picLocks noChangeAspect="1"/>
          </p:cNvPicPr>
          <p:nvPr/>
        </p:nvPicPr>
        <p:blipFill>
          <a:blip r:embed="rId4"/>
          <a:stretch>
            <a:fillRect/>
          </a:stretch>
        </p:blipFill>
        <p:spPr>
          <a:xfrm>
            <a:off x="661392" y="6121003"/>
            <a:ext cx="472440" cy="472440"/>
          </a:xfrm>
          <a:prstGeom prst="rect">
            <a:avLst/>
          </a:prstGeom>
        </p:spPr>
      </p:pic>
      <p:sp>
        <p:nvSpPr>
          <p:cNvPr id="11" name="Text 5"/>
          <p:cNvSpPr/>
          <p:nvPr/>
        </p:nvSpPr>
        <p:spPr>
          <a:xfrm>
            <a:off x="1322784" y="6200180"/>
            <a:ext cx="2223254" cy="277773"/>
          </a:xfrm>
          <a:prstGeom prst="rect">
            <a:avLst/>
          </a:prstGeom>
          <a:noFill/>
        </p:spPr>
        <p:txBody>
          <a:bodyPr wrap="none" lIns="0" tIns="0" rIns="0" bIns="0" rtlCol="0" anchor="t"/>
          <a:lstStyle/>
          <a:p>
            <a:pPr marL="0" indent="0" algn="l">
              <a:lnSpc>
                <a:spcPts val="2150"/>
              </a:lnSpc>
              <a:buNone/>
            </a:pPr>
            <a:r>
              <a:rPr lang="en-US" sz="1750" dirty="0">
                <a:solidFill>
                  <a:srgbClr val="D9E1FF"/>
                </a:solidFill>
                <a:latin typeface="Kanit" pitchFamily="34" charset="0"/>
                <a:ea typeface="Kanit" pitchFamily="34" charset="-122"/>
                <a:cs typeface="Kanit" pitchFamily="34" charset="-120"/>
              </a:rPr>
              <a:t>Hard Voting Ensemble</a:t>
            </a:r>
            <a:endParaRPr lang="en-US" sz="1750" dirty="0"/>
          </a:p>
        </p:txBody>
      </p:sp>
      <p:sp>
        <p:nvSpPr>
          <p:cNvPr id="12" name="Text 6"/>
          <p:cNvSpPr/>
          <p:nvPr/>
        </p:nvSpPr>
        <p:spPr>
          <a:xfrm>
            <a:off x="1322784" y="6591300"/>
            <a:ext cx="12646223" cy="302300"/>
          </a:xfrm>
          <a:prstGeom prst="rect">
            <a:avLst/>
          </a:prstGeom>
          <a:noFill/>
        </p:spPr>
        <p:txBody>
          <a:bodyPr wrap="none" lIns="0" tIns="0" rIns="0" bIns="0" rtlCol="0" anchor="t"/>
          <a:lstStyle/>
          <a:p>
            <a:pPr marL="0" indent="0" algn="l">
              <a:lnSpc>
                <a:spcPts val="2350"/>
              </a:lnSpc>
              <a:buNone/>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An ensemble model combining predictions of Logistic Regression and XGBoost was created and evaluated.</a:t>
            </a:r>
            <a:endParaRPr lang="en-US" sz="1450" dirty="0"/>
          </a:p>
        </p:txBody>
      </p:sp>
      <p:sp>
        <p:nvSpPr>
          <p:cNvPr id="13" name="Text 7"/>
          <p:cNvSpPr/>
          <p:nvPr/>
        </p:nvSpPr>
        <p:spPr>
          <a:xfrm>
            <a:off x="661392" y="7106126"/>
            <a:ext cx="13307616" cy="604599"/>
          </a:xfrm>
          <a:prstGeom prst="rect">
            <a:avLst/>
          </a:prstGeom>
          <a:noFill/>
        </p:spPr>
        <p:txBody>
          <a:bodyPr wrap="square" lIns="0" tIns="0" rIns="0" bIns="0" rtlCol="0" anchor="t"/>
          <a:lstStyle/>
          <a:p>
            <a:pPr marL="0" indent="0" algn="l">
              <a:lnSpc>
                <a:spcPts val="2350"/>
              </a:lnSpc>
              <a:buNone/>
            </a:pPr>
            <a:r>
              <a:rPr lang="en-US" sz="14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Hyperparameter tuning was performed using RandomizedSearchCV to optimize both Logistic Regression and XGBoost based on the F1-score. A final hard voting ensemble was created using the tuned models.</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443746" y="491966"/>
            <a:ext cx="3362206" cy="2810470"/>
          </a:xfrm>
          <a:prstGeom prst="rect">
            <a:avLst/>
          </a:prstGeom>
        </p:spPr>
      </p:pic>
      <p:pic>
        <p:nvPicPr>
          <p:cNvPr id="3" name="Image 1" descr="preencoded.png"/>
          <p:cNvPicPr>
            <a:picLocks noChangeAspect="1"/>
          </p:cNvPicPr>
          <p:nvPr/>
        </p:nvPicPr>
        <p:blipFill>
          <a:blip r:embed="rId2"/>
          <a:stretch>
            <a:fillRect/>
          </a:stretch>
        </p:blipFill>
        <p:spPr>
          <a:xfrm>
            <a:off x="7477482" y="491966"/>
            <a:ext cx="3424595" cy="2810351"/>
          </a:xfrm>
          <a:prstGeom prst="rect">
            <a:avLst/>
          </a:prstGeom>
        </p:spPr>
      </p:pic>
      <p:sp>
        <p:nvSpPr>
          <p:cNvPr id="4" name="Text 0"/>
          <p:cNvSpPr/>
          <p:nvPr/>
        </p:nvSpPr>
        <p:spPr>
          <a:xfrm>
            <a:off x="7477482" y="3444954"/>
            <a:ext cx="6716792" cy="202883"/>
          </a:xfrm>
          <a:prstGeom prst="rect">
            <a:avLst/>
          </a:prstGeom>
          <a:noFill/>
        </p:spPr>
        <p:txBody>
          <a:bodyPr wrap="none" lIns="0" tIns="0" rIns="0" bIns="0" rtlCol="0" anchor="t"/>
          <a:lstStyle/>
          <a:p>
            <a:pPr marL="0" indent="0" algn="l">
              <a:lnSpc>
                <a:spcPts val="1550"/>
              </a:lnSpc>
              <a:buNone/>
            </a:pPr>
            <a:endParaRPr lang="en-US" sz="950" dirty="0"/>
          </a:p>
        </p:txBody>
      </p:sp>
      <p:pic>
        <p:nvPicPr>
          <p:cNvPr id="5" name="Image 2" descr="preencoded.png"/>
          <p:cNvPicPr>
            <a:picLocks noChangeAspect="1"/>
          </p:cNvPicPr>
          <p:nvPr/>
        </p:nvPicPr>
        <p:blipFill>
          <a:blip r:embed="rId3"/>
          <a:stretch>
            <a:fillRect/>
          </a:stretch>
        </p:blipFill>
        <p:spPr>
          <a:xfrm>
            <a:off x="443746" y="4047173"/>
            <a:ext cx="3295412" cy="2810470"/>
          </a:xfrm>
          <a:prstGeom prst="rect">
            <a:avLst/>
          </a:prstGeom>
        </p:spPr>
      </p:pic>
      <p:pic>
        <p:nvPicPr>
          <p:cNvPr id="6" name="Image 3" descr="preencoded.png"/>
          <p:cNvPicPr>
            <a:picLocks noChangeAspect="1"/>
          </p:cNvPicPr>
          <p:nvPr/>
        </p:nvPicPr>
        <p:blipFill>
          <a:blip r:embed="rId4"/>
          <a:stretch>
            <a:fillRect/>
          </a:stretch>
        </p:blipFill>
        <p:spPr>
          <a:xfrm>
            <a:off x="7336869" y="4047173"/>
            <a:ext cx="3370659" cy="2810470"/>
          </a:xfrm>
          <a:prstGeom prst="rect">
            <a:avLst/>
          </a:prstGeom>
        </p:spPr>
      </p:pic>
      <p:sp>
        <p:nvSpPr>
          <p:cNvPr id="7" name="Text 1"/>
          <p:cNvSpPr/>
          <p:nvPr/>
        </p:nvSpPr>
        <p:spPr>
          <a:xfrm>
            <a:off x="7336869" y="7000280"/>
            <a:ext cx="6857286" cy="202883"/>
          </a:xfrm>
          <a:prstGeom prst="rect">
            <a:avLst/>
          </a:prstGeom>
          <a:noFill/>
        </p:spPr>
        <p:txBody>
          <a:bodyPr wrap="none" lIns="0" tIns="0" rIns="0" bIns="0" rtlCol="0" anchor="t"/>
          <a:lstStyle/>
          <a:p>
            <a:pPr marL="0" indent="0" algn="l">
              <a:lnSpc>
                <a:spcPts val="1550"/>
              </a:lnSpc>
              <a:buNone/>
            </a:pPr>
            <a:endParaRPr lang="en-US" sz="950" dirty="0"/>
          </a:p>
        </p:txBody>
      </p:sp>
      <p:sp>
        <p:nvSpPr>
          <p:cNvPr id="8" name="Text 2"/>
          <p:cNvSpPr/>
          <p:nvPr/>
        </p:nvSpPr>
        <p:spPr>
          <a:xfrm>
            <a:off x="443746" y="7507367"/>
            <a:ext cx="2983825" cy="372904"/>
          </a:xfrm>
          <a:prstGeom prst="rect">
            <a:avLst/>
          </a:prstGeom>
          <a:noFill/>
        </p:spPr>
        <p:txBody>
          <a:bodyPr wrap="none" lIns="0" tIns="0" rIns="0" bIns="0" rtlCol="0" anchor="t"/>
          <a:lstStyle/>
          <a:p>
            <a:pPr marL="0" indent="0" algn="l">
              <a:lnSpc>
                <a:spcPts val="2900"/>
              </a:lnSpc>
              <a:buNone/>
            </a:pPr>
            <a:endParaRPr lang="en-US" sz="2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695682" y="770215"/>
            <a:ext cx="7886700" cy="6556177"/>
          </a:xfrm>
          <a:prstGeom prst="rect">
            <a:avLst/>
          </a:prstGeom>
        </p:spPr>
      </p:pic>
      <p:sp>
        <p:nvSpPr>
          <p:cNvPr id="3" name="Text 0"/>
          <p:cNvSpPr/>
          <p:nvPr/>
        </p:nvSpPr>
        <p:spPr>
          <a:xfrm>
            <a:off x="9074825" y="725448"/>
            <a:ext cx="4867394" cy="318135"/>
          </a:xfrm>
          <a:prstGeom prst="rect">
            <a:avLst/>
          </a:prstGeom>
          <a:noFill/>
        </p:spPr>
        <p:txBody>
          <a:bodyPr wrap="none" lIns="0" tIns="0" rIns="0" bIns="0" rtlCol="0" anchor="t"/>
          <a:lstStyle/>
          <a:p>
            <a:pPr marL="0" indent="0" algn="l">
              <a:lnSpc>
                <a:spcPts val="2500"/>
              </a:lnSpc>
              <a:buNone/>
            </a:pPr>
            <a:endParaRPr lang="en-US" sz="1550" dirty="0"/>
          </a:p>
        </p:txBody>
      </p:sp>
      <p:sp>
        <p:nvSpPr>
          <p:cNvPr id="4" name="Text 1"/>
          <p:cNvSpPr/>
          <p:nvPr/>
        </p:nvSpPr>
        <p:spPr>
          <a:xfrm>
            <a:off x="695682" y="7848124"/>
            <a:ext cx="4677489" cy="584716"/>
          </a:xfrm>
          <a:prstGeom prst="rect">
            <a:avLst/>
          </a:prstGeom>
          <a:noFill/>
        </p:spPr>
        <p:txBody>
          <a:bodyPr wrap="none" lIns="0" tIns="0" rIns="0" bIns="0" rtlCol="0" anchor="t"/>
          <a:lstStyle/>
          <a:p>
            <a:pPr marL="0" indent="0" algn="l">
              <a:lnSpc>
                <a:spcPts val="4600"/>
              </a:lnSpc>
              <a:buNone/>
            </a:pPr>
            <a:endParaRPr lang="en-US" sz="3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66378" y="969883"/>
            <a:ext cx="7584043" cy="1310878"/>
          </a:xfrm>
          <a:prstGeom prst="rect">
            <a:avLst/>
          </a:prstGeom>
          <a:noFill/>
        </p:spPr>
        <p:txBody>
          <a:bodyPr wrap="square" lIns="0" tIns="0" rIns="0" bIns="0" rtlCol="0" anchor="t"/>
          <a:lstStyle/>
          <a:p>
            <a:pPr marL="0" indent="0" algn="l">
              <a:lnSpc>
                <a:spcPts val="5150"/>
              </a:lnSpc>
              <a:buNone/>
            </a:pPr>
            <a:r>
              <a:rPr lang="en-US" sz="4100" dirty="0">
                <a:solidFill>
                  <a:srgbClr val="FFFFFF"/>
                </a:solidFill>
                <a:latin typeface="Kanit" pitchFamily="34" charset="0"/>
                <a:ea typeface="Kanit" pitchFamily="34" charset="-122"/>
                <a:cs typeface="Kanit" pitchFamily="34" charset="-120"/>
              </a:rPr>
              <a:t>Model Building and Evaluation (Regression)</a:t>
            </a:r>
            <a:endParaRPr lang="en-US" sz="4100" dirty="0"/>
          </a:p>
        </p:txBody>
      </p:sp>
      <p:sp>
        <p:nvSpPr>
          <p:cNvPr id="4" name="Shape 1"/>
          <p:cNvSpPr/>
          <p:nvPr/>
        </p:nvSpPr>
        <p:spPr>
          <a:xfrm>
            <a:off x="6517005" y="2614970"/>
            <a:ext cx="30480" cy="4644628"/>
          </a:xfrm>
          <a:prstGeom prst="roundRect">
            <a:avLst>
              <a:gd name="adj" fmla="val 109681"/>
            </a:avLst>
          </a:prstGeom>
          <a:solidFill>
            <a:srgbClr val="48446D"/>
          </a:solidFill>
        </p:spPr>
      </p:sp>
      <p:sp>
        <p:nvSpPr>
          <p:cNvPr id="5" name="Shape 2"/>
          <p:cNvSpPr/>
          <p:nvPr/>
        </p:nvSpPr>
        <p:spPr>
          <a:xfrm>
            <a:off x="6737211" y="2850356"/>
            <a:ext cx="668536" cy="30480"/>
          </a:xfrm>
          <a:prstGeom prst="roundRect">
            <a:avLst>
              <a:gd name="adj" fmla="val 109681"/>
            </a:avLst>
          </a:prstGeom>
          <a:solidFill>
            <a:srgbClr val="48446D"/>
          </a:solidFill>
        </p:spPr>
      </p:sp>
      <p:sp>
        <p:nvSpPr>
          <p:cNvPr id="6" name="Shape 3"/>
          <p:cNvSpPr/>
          <p:nvPr/>
        </p:nvSpPr>
        <p:spPr>
          <a:xfrm>
            <a:off x="6266319" y="2614970"/>
            <a:ext cx="501372" cy="501372"/>
          </a:xfrm>
          <a:prstGeom prst="roundRect">
            <a:avLst>
              <a:gd name="adj" fmla="val 6668"/>
            </a:avLst>
          </a:prstGeom>
          <a:solidFill>
            <a:srgbClr val="2F2B54"/>
          </a:solidFill>
        </p:spPr>
      </p:sp>
      <p:pic>
        <p:nvPicPr>
          <p:cNvPr id="7" name="Image 1" descr="preencoded.png"/>
          <p:cNvPicPr>
            <a:picLocks noChangeAspect="1"/>
          </p:cNvPicPr>
          <p:nvPr/>
        </p:nvPicPr>
        <p:blipFill>
          <a:blip r:embed="rId2"/>
          <a:stretch>
            <a:fillRect/>
          </a:stretch>
        </p:blipFill>
        <p:spPr>
          <a:xfrm>
            <a:off x="6359664" y="2668965"/>
            <a:ext cx="314563" cy="393263"/>
          </a:xfrm>
          <a:prstGeom prst="rect">
            <a:avLst/>
          </a:prstGeom>
        </p:spPr>
      </p:pic>
      <p:sp>
        <p:nvSpPr>
          <p:cNvPr id="8" name="Text 4"/>
          <p:cNvSpPr/>
          <p:nvPr/>
        </p:nvSpPr>
        <p:spPr>
          <a:xfrm>
            <a:off x="7631430" y="2691527"/>
            <a:ext cx="2948940" cy="327660"/>
          </a:xfrm>
          <a:prstGeom prst="rect">
            <a:avLst/>
          </a:prstGeom>
          <a:noFill/>
        </p:spPr>
        <p:txBody>
          <a:bodyPr wrap="none" lIns="0" tIns="0" rIns="0" bIns="0" rtlCol="0" anchor="t"/>
          <a:lstStyle/>
          <a:p>
            <a:pPr marL="0" indent="0" algn="l">
              <a:lnSpc>
                <a:spcPts val="2550"/>
              </a:lnSpc>
              <a:buNone/>
            </a:pPr>
            <a:r>
              <a:rPr lang="en-US" sz="2050" dirty="0">
                <a:solidFill>
                  <a:srgbClr val="D9E1FF"/>
                </a:solidFill>
                <a:latin typeface="Kanit" pitchFamily="34" charset="0"/>
                <a:ea typeface="Kanit" pitchFamily="34" charset="-122"/>
                <a:cs typeface="Kanit" pitchFamily="34" charset="-120"/>
              </a:rPr>
              <a:t>Random Forest Regressor</a:t>
            </a:r>
            <a:endParaRPr lang="en-US" sz="2050" dirty="0"/>
          </a:p>
        </p:txBody>
      </p:sp>
      <p:sp>
        <p:nvSpPr>
          <p:cNvPr id="9" name="Text 5"/>
          <p:cNvSpPr/>
          <p:nvPr/>
        </p:nvSpPr>
        <p:spPr>
          <a:xfrm>
            <a:off x="7631430" y="3152894"/>
            <a:ext cx="6218992" cy="713184"/>
          </a:xfrm>
          <a:prstGeom prst="rect">
            <a:avLst/>
          </a:prstGeom>
          <a:noFill/>
        </p:spPr>
        <p:txBody>
          <a:bodyPr wrap="square" lIns="0" tIns="0" rIns="0" bIns="0" rtlCol="0" anchor="t"/>
          <a:lstStyle/>
          <a:p>
            <a:pPr marL="0" indent="0" algn="l">
              <a:lnSpc>
                <a:spcPts val="2800"/>
              </a:lnSpc>
              <a:buNone/>
            </a:pPr>
            <a:r>
              <a:rPr lang="en-US" sz="17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 RandomForestRegressor was trained and evaluated using MSE, R2, and MAE.</a:t>
            </a:r>
            <a:endParaRPr lang="en-US" sz="1750" dirty="0"/>
          </a:p>
        </p:txBody>
      </p:sp>
      <p:sp>
        <p:nvSpPr>
          <p:cNvPr id="10" name="Shape 6"/>
          <p:cNvSpPr/>
          <p:nvPr/>
        </p:nvSpPr>
        <p:spPr>
          <a:xfrm>
            <a:off x="6737211" y="4547116"/>
            <a:ext cx="668536" cy="30480"/>
          </a:xfrm>
          <a:prstGeom prst="roundRect">
            <a:avLst>
              <a:gd name="adj" fmla="val 109681"/>
            </a:avLst>
          </a:prstGeom>
          <a:solidFill>
            <a:srgbClr val="48446D"/>
          </a:solidFill>
        </p:spPr>
      </p:sp>
      <p:sp>
        <p:nvSpPr>
          <p:cNvPr id="11" name="Shape 7"/>
          <p:cNvSpPr/>
          <p:nvPr/>
        </p:nvSpPr>
        <p:spPr>
          <a:xfrm>
            <a:off x="6266319" y="4311729"/>
            <a:ext cx="501372" cy="501372"/>
          </a:xfrm>
          <a:prstGeom prst="roundRect">
            <a:avLst>
              <a:gd name="adj" fmla="val 6668"/>
            </a:avLst>
          </a:prstGeom>
          <a:solidFill>
            <a:srgbClr val="2F2B54"/>
          </a:solidFill>
        </p:spPr>
      </p:sp>
      <p:pic>
        <p:nvPicPr>
          <p:cNvPr id="12" name="Image 2" descr="preencoded.png"/>
          <p:cNvPicPr>
            <a:picLocks noChangeAspect="1"/>
          </p:cNvPicPr>
          <p:nvPr/>
        </p:nvPicPr>
        <p:blipFill>
          <a:blip r:embed="rId3"/>
          <a:stretch>
            <a:fillRect/>
          </a:stretch>
        </p:blipFill>
        <p:spPr>
          <a:xfrm>
            <a:off x="6359664" y="4365724"/>
            <a:ext cx="314563" cy="393263"/>
          </a:xfrm>
          <a:prstGeom prst="rect">
            <a:avLst/>
          </a:prstGeom>
        </p:spPr>
      </p:pic>
      <p:sp>
        <p:nvSpPr>
          <p:cNvPr id="13" name="Text 8"/>
          <p:cNvSpPr/>
          <p:nvPr/>
        </p:nvSpPr>
        <p:spPr>
          <a:xfrm>
            <a:off x="7631430" y="4388287"/>
            <a:ext cx="2621994" cy="327660"/>
          </a:xfrm>
          <a:prstGeom prst="rect">
            <a:avLst/>
          </a:prstGeom>
          <a:noFill/>
        </p:spPr>
        <p:txBody>
          <a:bodyPr wrap="none" lIns="0" tIns="0" rIns="0" bIns="0" rtlCol="0" anchor="t"/>
          <a:lstStyle/>
          <a:p>
            <a:pPr marL="0" indent="0" algn="l">
              <a:lnSpc>
                <a:spcPts val="2550"/>
              </a:lnSpc>
              <a:buNone/>
            </a:pPr>
            <a:r>
              <a:rPr lang="en-US" sz="2050" dirty="0">
                <a:solidFill>
                  <a:srgbClr val="D9E1FF"/>
                </a:solidFill>
                <a:latin typeface="Kanit" pitchFamily="34" charset="0"/>
                <a:ea typeface="Kanit" pitchFamily="34" charset="-122"/>
                <a:cs typeface="Kanit" pitchFamily="34" charset="-120"/>
              </a:rPr>
              <a:t>LightGBM Regressor</a:t>
            </a:r>
            <a:endParaRPr lang="en-US" sz="2050" dirty="0"/>
          </a:p>
        </p:txBody>
      </p:sp>
      <p:sp>
        <p:nvSpPr>
          <p:cNvPr id="14" name="Text 9"/>
          <p:cNvSpPr/>
          <p:nvPr/>
        </p:nvSpPr>
        <p:spPr>
          <a:xfrm>
            <a:off x="7631430" y="4849654"/>
            <a:ext cx="6218992" cy="713184"/>
          </a:xfrm>
          <a:prstGeom prst="rect">
            <a:avLst/>
          </a:prstGeom>
          <a:noFill/>
        </p:spPr>
        <p:txBody>
          <a:bodyPr wrap="square" lIns="0" tIns="0" rIns="0" bIns="0" rtlCol="0" anchor="t"/>
          <a:lstStyle/>
          <a:p>
            <a:pPr marL="0" indent="0" algn="l">
              <a:lnSpc>
                <a:spcPts val="2800"/>
              </a:lnSpc>
              <a:buNone/>
            </a:pPr>
            <a:r>
              <a:rPr lang="en-US" sz="17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An LGBMRegressor was trained and evaluated, achieving the best performance after hyperparameter tuning.</a:t>
            </a:r>
            <a:endParaRPr lang="en-US" sz="1750" dirty="0"/>
          </a:p>
        </p:txBody>
      </p:sp>
      <p:sp>
        <p:nvSpPr>
          <p:cNvPr id="15" name="Shape 10"/>
          <p:cNvSpPr/>
          <p:nvPr/>
        </p:nvSpPr>
        <p:spPr>
          <a:xfrm>
            <a:off x="6737211" y="6243876"/>
            <a:ext cx="668536" cy="30480"/>
          </a:xfrm>
          <a:prstGeom prst="roundRect">
            <a:avLst>
              <a:gd name="adj" fmla="val 109681"/>
            </a:avLst>
          </a:prstGeom>
          <a:solidFill>
            <a:srgbClr val="48446D"/>
          </a:solidFill>
        </p:spPr>
      </p:sp>
      <p:sp>
        <p:nvSpPr>
          <p:cNvPr id="16" name="Shape 11"/>
          <p:cNvSpPr/>
          <p:nvPr/>
        </p:nvSpPr>
        <p:spPr>
          <a:xfrm>
            <a:off x="6266319" y="6008489"/>
            <a:ext cx="501372" cy="501372"/>
          </a:xfrm>
          <a:prstGeom prst="roundRect">
            <a:avLst>
              <a:gd name="adj" fmla="val 6668"/>
            </a:avLst>
          </a:prstGeom>
          <a:solidFill>
            <a:srgbClr val="2F2B54"/>
          </a:solidFill>
        </p:spPr>
      </p:sp>
      <p:pic>
        <p:nvPicPr>
          <p:cNvPr id="17" name="Image 3" descr="preencoded.png"/>
          <p:cNvPicPr>
            <a:picLocks noChangeAspect="1"/>
          </p:cNvPicPr>
          <p:nvPr/>
        </p:nvPicPr>
        <p:blipFill>
          <a:blip r:embed="rId4"/>
          <a:stretch>
            <a:fillRect/>
          </a:stretch>
        </p:blipFill>
        <p:spPr>
          <a:xfrm>
            <a:off x="6359664" y="6062484"/>
            <a:ext cx="314563" cy="393263"/>
          </a:xfrm>
          <a:prstGeom prst="rect">
            <a:avLst/>
          </a:prstGeom>
        </p:spPr>
      </p:pic>
      <p:sp>
        <p:nvSpPr>
          <p:cNvPr id="18" name="Text 12"/>
          <p:cNvSpPr/>
          <p:nvPr/>
        </p:nvSpPr>
        <p:spPr>
          <a:xfrm>
            <a:off x="7631430" y="6085046"/>
            <a:ext cx="3716536" cy="327660"/>
          </a:xfrm>
          <a:prstGeom prst="rect">
            <a:avLst/>
          </a:prstGeom>
          <a:noFill/>
        </p:spPr>
        <p:txBody>
          <a:bodyPr wrap="none" lIns="0" tIns="0" rIns="0" bIns="0" rtlCol="0" anchor="t"/>
          <a:lstStyle/>
          <a:p>
            <a:pPr marL="0" indent="0" algn="l">
              <a:lnSpc>
                <a:spcPts val="2550"/>
              </a:lnSpc>
              <a:buNone/>
            </a:pPr>
            <a:r>
              <a:rPr lang="en-US" sz="2050" dirty="0">
                <a:solidFill>
                  <a:srgbClr val="D9E1FF"/>
                </a:solidFill>
                <a:latin typeface="Kanit" pitchFamily="34" charset="0"/>
                <a:ea typeface="Kanit" pitchFamily="34" charset="-122"/>
                <a:cs typeface="Kanit" pitchFamily="34" charset="-120"/>
              </a:rPr>
              <a:t>Ensemble (Weighted Averaging)</a:t>
            </a:r>
            <a:endParaRPr lang="en-US" sz="2050" dirty="0"/>
          </a:p>
        </p:txBody>
      </p:sp>
      <p:sp>
        <p:nvSpPr>
          <p:cNvPr id="19" name="Text 13"/>
          <p:cNvSpPr/>
          <p:nvPr/>
        </p:nvSpPr>
        <p:spPr>
          <a:xfrm>
            <a:off x="7631430" y="6546413"/>
            <a:ext cx="6218992" cy="713184"/>
          </a:xfrm>
          <a:prstGeom prst="rect">
            <a:avLst/>
          </a:prstGeom>
          <a:noFill/>
        </p:spPr>
        <p:txBody>
          <a:bodyPr wrap="square" lIns="0" tIns="0" rIns="0" bIns="0" rtlCol="0" anchor="t"/>
          <a:lstStyle/>
          <a:p>
            <a:pPr marL="0" indent="0" algn="l">
              <a:lnSpc>
                <a:spcPts val="2800"/>
              </a:lnSpc>
              <a:buNone/>
            </a:pPr>
            <a:r>
              <a:rPr lang="en-US" sz="17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 weighted average ensemble of the tuned Random Forest and LightGBM regressors was created and evaluated.</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37724" y="1196340"/>
            <a:ext cx="6997779" cy="1544717"/>
          </a:xfrm>
          <a:prstGeom prst="rect">
            <a:avLst/>
          </a:prstGeom>
        </p:spPr>
      </p:pic>
      <p:pic>
        <p:nvPicPr>
          <p:cNvPr id="3" name="Image 1" descr="preencoded.png"/>
          <p:cNvPicPr>
            <a:picLocks noChangeAspect="1"/>
          </p:cNvPicPr>
          <p:nvPr/>
        </p:nvPicPr>
        <p:blipFill>
          <a:blip r:embed="rId2"/>
          <a:stretch>
            <a:fillRect/>
          </a:stretch>
        </p:blipFill>
        <p:spPr>
          <a:xfrm>
            <a:off x="8427006" y="1196340"/>
            <a:ext cx="4305657" cy="894755"/>
          </a:xfrm>
          <a:prstGeom prst="rect">
            <a:avLst/>
          </a:prstGeom>
        </p:spPr>
      </p:pic>
      <p:sp>
        <p:nvSpPr>
          <p:cNvPr id="4" name="Text 0"/>
          <p:cNvSpPr/>
          <p:nvPr/>
        </p:nvSpPr>
        <p:spPr>
          <a:xfrm>
            <a:off x="8427006" y="2360295"/>
            <a:ext cx="5373172" cy="383024"/>
          </a:xfrm>
          <a:prstGeom prst="rect">
            <a:avLst/>
          </a:prstGeom>
          <a:noFill/>
        </p:spPr>
        <p:txBody>
          <a:bodyPr wrap="none" lIns="0" tIns="0" rIns="0" bIns="0" rtlCol="0" anchor="t"/>
          <a:lstStyle/>
          <a:p>
            <a:pPr marL="0" indent="0" algn="l">
              <a:lnSpc>
                <a:spcPts val="3000"/>
              </a:lnSpc>
              <a:buNone/>
            </a:pPr>
            <a:endParaRPr lang="en-US" sz="1850" dirty="0"/>
          </a:p>
        </p:txBody>
      </p:sp>
      <p:pic>
        <p:nvPicPr>
          <p:cNvPr id="5" name="Image 2" descr="preencoded.png"/>
          <p:cNvPicPr>
            <a:picLocks noChangeAspect="1"/>
          </p:cNvPicPr>
          <p:nvPr/>
        </p:nvPicPr>
        <p:blipFill>
          <a:blip r:embed="rId3"/>
          <a:stretch>
            <a:fillRect/>
          </a:stretch>
        </p:blipFill>
        <p:spPr>
          <a:xfrm>
            <a:off x="837724" y="3548658"/>
            <a:ext cx="6862405" cy="1022628"/>
          </a:xfrm>
          <a:prstGeom prst="rect">
            <a:avLst/>
          </a:prstGeom>
        </p:spPr>
      </p:pic>
      <p:pic>
        <p:nvPicPr>
          <p:cNvPr id="6" name="Image 3" descr="preencoded.png"/>
          <p:cNvPicPr>
            <a:picLocks noChangeAspect="1"/>
          </p:cNvPicPr>
          <p:nvPr/>
        </p:nvPicPr>
        <p:blipFill>
          <a:blip r:embed="rId4"/>
          <a:stretch>
            <a:fillRect/>
          </a:stretch>
        </p:blipFill>
        <p:spPr>
          <a:xfrm>
            <a:off x="8291632" y="3548658"/>
            <a:ext cx="4418290" cy="736283"/>
          </a:xfrm>
          <a:prstGeom prst="rect">
            <a:avLst/>
          </a:prstGeom>
        </p:spPr>
      </p:pic>
      <p:sp>
        <p:nvSpPr>
          <p:cNvPr id="7" name="Text 1"/>
          <p:cNvSpPr/>
          <p:nvPr/>
        </p:nvSpPr>
        <p:spPr>
          <a:xfrm>
            <a:off x="8291632" y="4554141"/>
            <a:ext cx="5508546" cy="383024"/>
          </a:xfrm>
          <a:prstGeom prst="rect">
            <a:avLst/>
          </a:prstGeom>
          <a:noFill/>
        </p:spPr>
        <p:txBody>
          <a:bodyPr wrap="none" lIns="0" tIns="0" rIns="0" bIns="0" rtlCol="0" anchor="t"/>
          <a:lstStyle/>
          <a:p>
            <a:pPr marL="0" indent="0" algn="l">
              <a:lnSpc>
                <a:spcPts val="3000"/>
              </a:lnSpc>
              <a:buNone/>
            </a:pPr>
            <a:endParaRPr lang="en-US" sz="1850" dirty="0"/>
          </a:p>
        </p:txBody>
      </p:sp>
      <p:pic>
        <p:nvPicPr>
          <p:cNvPr id="8" name="Image 4" descr="preencoded.png"/>
          <p:cNvPicPr>
            <a:picLocks noChangeAspect="1"/>
          </p:cNvPicPr>
          <p:nvPr/>
        </p:nvPicPr>
        <p:blipFill>
          <a:blip r:embed="rId5"/>
          <a:stretch>
            <a:fillRect/>
          </a:stretch>
        </p:blipFill>
        <p:spPr>
          <a:xfrm>
            <a:off x="837724" y="5421749"/>
            <a:ext cx="5945386" cy="817602"/>
          </a:xfrm>
          <a:prstGeom prst="rect">
            <a:avLst/>
          </a:prstGeom>
        </p:spPr>
      </p:pic>
      <p:sp>
        <p:nvSpPr>
          <p:cNvPr id="9" name="Text 2"/>
          <p:cNvSpPr/>
          <p:nvPr/>
        </p:nvSpPr>
        <p:spPr>
          <a:xfrm>
            <a:off x="837724" y="6598325"/>
            <a:ext cx="5632490" cy="704017"/>
          </a:xfrm>
          <a:prstGeom prst="rect">
            <a:avLst/>
          </a:prstGeom>
          <a:noFill/>
        </p:spPr>
        <p:txBody>
          <a:bodyPr wrap="none" lIns="0" tIns="0" rIns="0" bIns="0" rtlCol="0" anchor="t"/>
          <a:lstStyle/>
          <a:p>
            <a:pPr marL="0" indent="0" algn="l">
              <a:lnSpc>
                <a:spcPts val="5500"/>
              </a:lnSpc>
              <a:buNone/>
            </a:pPr>
            <a:endParaRPr lang="en-US"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519946" y="408623"/>
            <a:ext cx="5519738" cy="3292793"/>
          </a:xfrm>
          <a:prstGeom prst="rect">
            <a:avLst/>
          </a:prstGeom>
        </p:spPr>
      </p:pic>
      <p:pic>
        <p:nvPicPr>
          <p:cNvPr id="3" name="Image 1" descr="preencoded.png"/>
          <p:cNvPicPr>
            <a:picLocks noChangeAspect="1"/>
          </p:cNvPicPr>
          <p:nvPr/>
        </p:nvPicPr>
        <p:blipFill>
          <a:blip r:embed="rId2"/>
          <a:stretch>
            <a:fillRect/>
          </a:stretch>
        </p:blipFill>
        <p:spPr>
          <a:xfrm>
            <a:off x="519946" y="3868460"/>
            <a:ext cx="5519738" cy="3292793"/>
          </a:xfrm>
          <a:prstGeom prst="rect">
            <a:avLst/>
          </a:prstGeom>
        </p:spPr>
      </p:pic>
      <p:sp>
        <p:nvSpPr>
          <p:cNvPr id="4" name="Text 0"/>
          <p:cNvSpPr/>
          <p:nvPr/>
        </p:nvSpPr>
        <p:spPr>
          <a:xfrm>
            <a:off x="519946" y="7384018"/>
            <a:ext cx="3495913" cy="436959"/>
          </a:xfrm>
          <a:prstGeom prst="rect">
            <a:avLst/>
          </a:prstGeom>
          <a:noFill/>
        </p:spPr>
        <p:txBody>
          <a:bodyPr wrap="none" lIns="0" tIns="0" rIns="0" bIns="0" rtlCol="0" anchor="t"/>
          <a:lstStyle/>
          <a:p>
            <a:pPr marL="0" indent="0" algn="l">
              <a:lnSpc>
                <a:spcPts val="3400"/>
              </a:lnSpc>
              <a:buNone/>
            </a:pPr>
            <a:endParaRPr lang="en-US" sz="2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7118" y="594836"/>
            <a:ext cx="7379970" cy="636151"/>
          </a:xfrm>
          <a:prstGeom prst="rect">
            <a:avLst/>
          </a:prstGeom>
          <a:noFill/>
        </p:spPr>
        <p:txBody>
          <a:bodyPr wrap="none" lIns="0" tIns="0" rIns="0" bIns="0" rtlCol="0" anchor="t"/>
          <a:lstStyle/>
          <a:p>
            <a:pPr marL="0" indent="0" algn="l">
              <a:lnSpc>
                <a:spcPts val="5000"/>
              </a:lnSpc>
              <a:buNone/>
            </a:pPr>
            <a:r>
              <a:rPr lang="en-US" sz="4000" b="1" dirty="0">
                <a:solidFill>
                  <a:srgbClr val="FFFFFF"/>
                </a:solidFill>
                <a:latin typeface="Kanit" pitchFamily="34" charset="0"/>
                <a:ea typeface="Kanit" pitchFamily="34" charset="-122"/>
                <a:cs typeface="Kanit" pitchFamily="34" charset="-120"/>
              </a:rPr>
              <a:t> "Mother Project" - Deployment</a:t>
            </a:r>
            <a:endParaRPr lang="en-US" sz="4000" dirty="0"/>
          </a:p>
        </p:txBody>
      </p:sp>
      <p:sp>
        <p:nvSpPr>
          <p:cNvPr id="3" name="Text 1"/>
          <p:cNvSpPr/>
          <p:nvPr/>
        </p:nvSpPr>
        <p:spPr>
          <a:xfrm>
            <a:off x="757118" y="1663660"/>
            <a:ext cx="13116163" cy="346115"/>
          </a:xfrm>
          <a:prstGeom prst="rect">
            <a:avLst/>
          </a:prstGeom>
          <a:noFill/>
        </p:spPr>
        <p:txBody>
          <a:bodyPr wrap="none" lIns="0" tIns="0" rIns="0" bIns="0" rtlCol="0" anchor="t"/>
          <a:lstStyle/>
          <a:p>
            <a:pPr marL="0" indent="0" algn="l">
              <a:lnSpc>
                <a:spcPts val="2700"/>
              </a:lnSpc>
              <a:buNone/>
            </a:pPr>
            <a:r>
              <a:rPr lang="en-US" sz="170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a:t>
            </a:r>
            <a:r>
              <a:rPr lang="en-US" sz="17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Bringing Predictions to Life with Streamlit</a:t>
            </a:r>
            <a:endParaRPr lang="en-US" sz="1700" dirty="0"/>
          </a:p>
        </p:txBody>
      </p:sp>
      <p:pic>
        <p:nvPicPr>
          <p:cNvPr id="4" name="Image 0" descr="preencoded.png"/>
          <p:cNvPicPr>
            <a:picLocks noChangeAspect="1"/>
          </p:cNvPicPr>
          <p:nvPr/>
        </p:nvPicPr>
        <p:blipFill>
          <a:blip r:embed="rId1"/>
          <a:stretch>
            <a:fillRect/>
          </a:stretch>
        </p:blipFill>
        <p:spPr>
          <a:xfrm>
            <a:off x="757118" y="2253139"/>
            <a:ext cx="9887545" cy="4794647"/>
          </a:xfrm>
          <a:prstGeom prst="rect">
            <a:avLst/>
          </a:prstGeom>
        </p:spPr>
      </p:pic>
      <p:sp>
        <p:nvSpPr>
          <p:cNvPr id="5" name="Text 2"/>
          <p:cNvSpPr/>
          <p:nvPr/>
        </p:nvSpPr>
        <p:spPr>
          <a:xfrm>
            <a:off x="757118" y="7291149"/>
            <a:ext cx="13116163" cy="346115"/>
          </a:xfrm>
          <a:prstGeom prst="rect">
            <a:avLst/>
          </a:prstGeom>
          <a:noFill/>
        </p:spPr>
        <p:txBody>
          <a:bodyPr wrap="none" lIns="0" tIns="0" rIns="0" bIns="0" rtlCol="0" anchor="t"/>
          <a:lstStyle/>
          <a:p>
            <a:pPr marL="0" indent="0" algn="l">
              <a:lnSpc>
                <a:spcPts val="2700"/>
              </a:lnSpc>
              <a:buNone/>
            </a:pP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724" y="710803"/>
            <a:ext cx="5632490" cy="704017"/>
          </a:xfrm>
          <a:prstGeom prst="rect">
            <a:avLst/>
          </a:prstGeom>
          <a:noFill/>
        </p:spPr>
        <p:txBody>
          <a:bodyPr wrap="none" lIns="0" tIns="0" rIns="0" bIns="0" rtlCol="0" anchor="t"/>
          <a:lstStyle/>
          <a:p>
            <a:pPr marL="0" indent="0" algn="l">
              <a:lnSpc>
                <a:spcPts val="5500"/>
              </a:lnSpc>
              <a:buNone/>
            </a:pPr>
            <a:endParaRPr lang="en-US" sz="4400" dirty="0"/>
          </a:p>
        </p:txBody>
      </p:sp>
      <p:sp>
        <p:nvSpPr>
          <p:cNvPr id="3" name="Text 1"/>
          <p:cNvSpPr/>
          <p:nvPr/>
        </p:nvSpPr>
        <p:spPr>
          <a:xfrm>
            <a:off x="837724" y="1989177"/>
            <a:ext cx="6185535" cy="383024"/>
          </a:xfrm>
          <a:prstGeom prst="rect">
            <a:avLst/>
          </a:prstGeom>
          <a:noFill/>
        </p:spPr>
        <p:txBody>
          <a:bodyPr wrap="none" lIns="0" tIns="0" rIns="0" bIns="0" rtlCol="0" anchor="t"/>
          <a:lstStyle/>
          <a:p>
            <a:pPr marL="0" indent="0" algn="l">
              <a:lnSpc>
                <a:spcPts val="3000"/>
              </a:lnSpc>
              <a:buNone/>
            </a:pP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Overview of the Streamlit application:</a:t>
            </a:r>
            <a:endParaRPr lang="en-US" sz="1850" dirty="0"/>
          </a:p>
        </p:txBody>
      </p:sp>
      <p:sp>
        <p:nvSpPr>
          <p:cNvPr id="4" name="Text 2"/>
          <p:cNvSpPr/>
          <p:nvPr/>
        </p:nvSpPr>
        <p:spPr>
          <a:xfrm>
            <a:off x="837724" y="2587585"/>
            <a:ext cx="6185535" cy="766048"/>
          </a:xfrm>
          <a:prstGeom prst="rect">
            <a:avLst/>
          </a:prstGeom>
          <a:noFill/>
        </p:spPr>
        <p:txBody>
          <a:bodyPr wrap="square" lIns="0" tIns="0" rIns="0" bIns="0" rtlCol="0" anchor="t"/>
          <a:lstStyle/>
          <a:p>
            <a:pPr marL="342900" indent="-342900" algn="l">
              <a:lnSpc>
                <a:spcPts val="3000"/>
              </a:lnSpc>
              <a:buSzPct val="100000"/>
              <a:buChar char="•"/>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Developed a user-friendly web interface using Streamlit.</a:t>
            </a:r>
            <a:endParaRPr lang="en-US" sz="1850" dirty="0"/>
          </a:p>
        </p:txBody>
      </p:sp>
      <p:sp>
        <p:nvSpPr>
          <p:cNvPr id="5" name="Text 3"/>
          <p:cNvSpPr/>
          <p:nvPr/>
        </p:nvSpPr>
        <p:spPr>
          <a:xfrm>
            <a:off x="837724" y="3437334"/>
            <a:ext cx="6185535" cy="1149072"/>
          </a:xfrm>
          <a:prstGeom prst="rect">
            <a:avLst/>
          </a:prstGeom>
          <a:noFill/>
        </p:spPr>
        <p:txBody>
          <a:bodyPr wrap="square" lIns="0" tIns="0" rIns="0" bIns="0" rtlCol="0" anchor="t"/>
          <a:lstStyle/>
          <a:p>
            <a:pPr marL="342900" indent="-342900" algn="l">
              <a:lnSpc>
                <a:spcPts val="3000"/>
              </a:lnSpc>
              <a:buSzPct val="100000"/>
              <a:buChar char="•"/>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Purpose: To demonstrate the real-time prediction capabilities of the developed predictive maintenance model.</a:t>
            </a:r>
            <a:endParaRPr lang="en-US" sz="1850" dirty="0"/>
          </a:p>
        </p:txBody>
      </p:sp>
      <p:sp>
        <p:nvSpPr>
          <p:cNvPr id="6" name="Text 4"/>
          <p:cNvSpPr/>
          <p:nvPr/>
        </p:nvSpPr>
        <p:spPr>
          <a:xfrm>
            <a:off x="837724" y="4670108"/>
            <a:ext cx="6185535" cy="766048"/>
          </a:xfrm>
          <a:prstGeom prst="rect">
            <a:avLst/>
          </a:prstGeom>
          <a:noFill/>
        </p:spPr>
        <p:txBody>
          <a:bodyPr wrap="square" lIns="0" tIns="0" rIns="0" bIns="0" rtlCol="0" anchor="t"/>
          <a:lstStyle/>
          <a:p>
            <a:pPr marL="342900" indent="-342900" algn="l">
              <a:lnSpc>
                <a:spcPts val="3000"/>
              </a:lnSpc>
              <a:buSzPct val="100000"/>
              <a:buChar char="•"/>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Provides an accessible way to interact with the model without needing to run code directly.</a:t>
            </a:r>
            <a:endParaRPr lang="en-US" sz="1850" dirty="0"/>
          </a:p>
        </p:txBody>
      </p:sp>
      <p:sp>
        <p:nvSpPr>
          <p:cNvPr id="7" name="Text 5"/>
          <p:cNvSpPr/>
          <p:nvPr/>
        </p:nvSpPr>
        <p:spPr>
          <a:xfrm>
            <a:off x="837724" y="5519857"/>
            <a:ext cx="6185535" cy="766048"/>
          </a:xfrm>
          <a:prstGeom prst="rect">
            <a:avLst/>
          </a:prstGeom>
          <a:noFill/>
        </p:spPr>
        <p:txBody>
          <a:bodyPr wrap="square" lIns="0" tIns="0" rIns="0" bIns="0" rtlCol="0" anchor="t"/>
          <a:lstStyle/>
          <a:p>
            <a:pPr marL="342900" indent="-342900" algn="l">
              <a:lnSpc>
                <a:spcPts val="3000"/>
              </a:lnSpc>
              <a:buSzPct val="100000"/>
              <a:buChar char="•"/>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Streamlines the process of inputting machine parameters and receiving immediate predictions.</a:t>
            </a:r>
            <a:endParaRPr lang="en-US" sz="1850" dirty="0"/>
          </a:p>
        </p:txBody>
      </p:sp>
      <p:sp>
        <p:nvSpPr>
          <p:cNvPr id="8" name="Text 6"/>
          <p:cNvSpPr/>
          <p:nvPr/>
        </p:nvSpPr>
        <p:spPr>
          <a:xfrm>
            <a:off x="7614761" y="1989177"/>
            <a:ext cx="6185535" cy="383024"/>
          </a:xfrm>
          <a:prstGeom prst="rect">
            <a:avLst/>
          </a:prstGeom>
          <a:noFill/>
        </p:spPr>
        <p:txBody>
          <a:bodyPr wrap="none" lIns="0" tIns="0" rIns="0" bIns="0" rtlCol="0" anchor="t"/>
          <a:lstStyle/>
          <a:p>
            <a:pPr marL="0" indent="0" algn="l">
              <a:lnSpc>
                <a:spcPts val="3000"/>
              </a:lnSpc>
              <a:buNone/>
            </a:pP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o User input features:</a:t>
            </a:r>
            <a:endParaRPr lang="en-US" sz="1850" dirty="0"/>
          </a:p>
        </p:txBody>
      </p:sp>
      <p:sp>
        <p:nvSpPr>
          <p:cNvPr id="9" name="Text 7"/>
          <p:cNvSpPr/>
          <p:nvPr/>
        </p:nvSpPr>
        <p:spPr>
          <a:xfrm>
            <a:off x="7614761" y="2587585"/>
            <a:ext cx="6185535" cy="1149072"/>
          </a:xfrm>
          <a:prstGeom prst="rect">
            <a:avLst/>
          </a:prstGeom>
          <a:noFill/>
        </p:spPr>
        <p:txBody>
          <a:bodyPr wrap="square" lIns="0" tIns="0" rIns="0" bIns="0" rtlCol="0" anchor="t"/>
          <a:lstStyle/>
          <a:p>
            <a:pPr marL="342900" indent="-342900" algn="l">
              <a:lnSpc>
                <a:spcPts val="3000"/>
              </a:lnSpc>
              <a:buSzPct val="100000"/>
              <a:buChar char="•"/>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Includes interactive widgets (e.g., sliders, dropdown menus, number input fields) for users to input the operational parameters of a machine.</a:t>
            </a:r>
            <a:endParaRPr lang="en-US" sz="1850" dirty="0"/>
          </a:p>
        </p:txBody>
      </p:sp>
      <p:sp>
        <p:nvSpPr>
          <p:cNvPr id="10" name="Text 8"/>
          <p:cNvSpPr/>
          <p:nvPr/>
        </p:nvSpPr>
        <p:spPr>
          <a:xfrm>
            <a:off x="7614761" y="3820358"/>
            <a:ext cx="6185535" cy="1915120"/>
          </a:xfrm>
          <a:prstGeom prst="rect">
            <a:avLst/>
          </a:prstGeom>
          <a:noFill/>
        </p:spPr>
        <p:txBody>
          <a:bodyPr wrap="square" lIns="0" tIns="0" rIns="0" bIns="0" rtlCol="0" anchor="t"/>
          <a:lstStyle/>
          <a:p>
            <a:pPr marL="342900" indent="-342900" algn="l">
              <a:lnSpc>
                <a:spcPts val="3000"/>
              </a:lnSpc>
              <a:buSzPct val="100000"/>
              <a:buChar char="•"/>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Features correspond to the relevant input features used in the trained machine learning model (e.g., air temperature, process temperature, rotational speed, torque, tool wear at a specific point, machine type).</a:t>
            </a:r>
            <a:endParaRPr lang="en-US" sz="1850" dirty="0"/>
          </a:p>
        </p:txBody>
      </p:sp>
      <p:sp>
        <p:nvSpPr>
          <p:cNvPr id="11" name="Text 9"/>
          <p:cNvSpPr/>
          <p:nvPr/>
        </p:nvSpPr>
        <p:spPr>
          <a:xfrm>
            <a:off x="7614761" y="5819180"/>
            <a:ext cx="6185535" cy="766048"/>
          </a:xfrm>
          <a:prstGeom prst="rect">
            <a:avLst/>
          </a:prstGeom>
          <a:noFill/>
        </p:spPr>
        <p:txBody>
          <a:bodyPr wrap="square" lIns="0" tIns="0" rIns="0" bIns="0" rtlCol="0" anchor="t"/>
          <a:lstStyle/>
          <a:p>
            <a:pPr marL="342900" indent="-342900" algn="l">
              <a:lnSpc>
                <a:spcPts val="3000"/>
              </a:lnSpc>
              <a:buSzPct val="100000"/>
              <a:buChar char="•"/>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Clear labels and units are provided for each input feature to guide the user.</a:t>
            </a:r>
            <a:endParaRPr lang="en-US" sz="1850" dirty="0"/>
          </a:p>
        </p:txBody>
      </p:sp>
      <p:sp>
        <p:nvSpPr>
          <p:cNvPr id="12" name="Text 10"/>
          <p:cNvSpPr/>
          <p:nvPr/>
        </p:nvSpPr>
        <p:spPr>
          <a:xfrm>
            <a:off x="7614761" y="6668929"/>
            <a:ext cx="6185535" cy="766048"/>
          </a:xfrm>
          <a:prstGeom prst="rect">
            <a:avLst/>
          </a:prstGeom>
          <a:noFill/>
        </p:spPr>
        <p:txBody>
          <a:bodyPr wrap="square" lIns="0" tIns="0" rIns="0" bIns="0" rtlCol="0" anchor="t"/>
          <a:lstStyle/>
          <a:p>
            <a:pPr marL="342900" indent="-342900" algn="l">
              <a:lnSpc>
                <a:spcPts val="3000"/>
              </a:lnSpc>
              <a:buSzPct val="100000"/>
              <a:buChar char="•"/>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Input validation ensures users provide data within realistic ranges.</a:t>
            </a:r>
            <a:endParaRPr lang="en-US" sz="1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2114" y="704493"/>
            <a:ext cx="4855012" cy="606862"/>
          </a:xfrm>
          <a:prstGeom prst="rect">
            <a:avLst/>
          </a:prstGeom>
          <a:noFill/>
        </p:spPr>
        <p:txBody>
          <a:bodyPr wrap="none" lIns="0" tIns="0" rIns="0" bIns="0" rtlCol="0" anchor="t"/>
          <a:lstStyle/>
          <a:p>
            <a:pPr marL="0" indent="0" algn="l">
              <a:lnSpc>
                <a:spcPts val="4750"/>
              </a:lnSpc>
              <a:buNone/>
            </a:pPr>
            <a:endParaRPr lang="en-US" sz="3800" dirty="0"/>
          </a:p>
        </p:txBody>
      </p:sp>
      <p:sp>
        <p:nvSpPr>
          <p:cNvPr id="3" name="Text 1"/>
          <p:cNvSpPr/>
          <p:nvPr/>
        </p:nvSpPr>
        <p:spPr>
          <a:xfrm>
            <a:off x="722114" y="1724025"/>
            <a:ext cx="13186172" cy="330041"/>
          </a:xfrm>
          <a:prstGeom prst="rect">
            <a:avLst/>
          </a:prstGeom>
          <a:noFill/>
        </p:spPr>
        <p:txBody>
          <a:bodyPr wrap="none" lIns="0" tIns="0" rIns="0" bIns="0" rtlCol="0" anchor="t"/>
          <a:lstStyle/>
          <a:p>
            <a:pPr marL="0" indent="0" algn="l">
              <a:lnSpc>
                <a:spcPts val="2550"/>
              </a:lnSpc>
              <a:buNone/>
            </a:pPr>
            <a:endParaRPr lang="en-US" sz="1600" dirty="0"/>
          </a:p>
        </p:txBody>
      </p:sp>
      <p:sp>
        <p:nvSpPr>
          <p:cNvPr id="4" name="Text 2"/>
          <p:cNvSpPr/>
          <p:nvPr/>
        </p:nvSpPr>
        <p:spPr>
          <a:xfrm>
            <a:off x="722114" y="2471738"/>
            <a:ext cx="6341388" cy="330041"/>
          </a:xfrm>
          <a:prstGeom prst="rect">
            <a:avLst/>
          </a:prstGeom>
          <a:noFill/>
        </p:spPr>
        <p:txBody>
          <a:bodyPr wrap="none" lIns="0" tIns="0" rIns="0" bIns="0" rtlCol="0" anchor="t"/>
          <a:lstStyle/>
          <a:p>
            <a:pPr marL="0" indent="0" algn="l">
              <a:lnSpc>
                <a:spcPts val="2550"/>
              </a:lnSpc>
              <a:buNone/>
            </a:pPr>
            <a:r>
              <a:rPr lang="en-US" sz="160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Displaying predictions for tool wear and machine failure:</a:t>
            </a:r>
            <a:endParaRPr lang="en-US" sz="1600" dirty="0"/>
          </a:p>
        </p:txBody>
      </p:sp>
      <p:sp>
        <p:nvSpPr>
          <p:cNvPr id="5" name="Text 3"/>
          <p:cNvSpPr/>
          <p:nvPr/>
        </p:nvSpPr>
        <p:spPr>
          <a:xfrm>
            <a:off x="722114" y="2987397"/>
            <a:ext cx="6341388" cy="660083"/>
          </a:xfrm>
          <a:prstGeom prst="rect">
            <a:avLst/>
          </a:prstGeom>
          <a:noFill/>
        </p:spPr>
        <p:txBody>
          <a:bodyPr wrap="square" lIns="0" tIns="0" rIns="0" bIns="0" rtlCol="0" anchor="t"/>
          <a:lstStyle/>
          <a:p>
            <a:pPr marL="342900" indent="-342900" algn="l">
              <a:lnSpc>
                <a:spcPts val="2550"/>
              </a:lnSpc>
              <a:buSzPct val="100000"/>
              <a:buChar char="•"/>
            </a:pPr>
            <a:r>
              <a:rPr lang="en-US" sz="16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Presents the model's predictions in a clear and understandable format.</a:t>
            </a:r>
            <a:endParaRPr lang="en-US" sz="1600" dirty="0"/>
          </a:p>
        </p:txBody>
      </p:sp>
      <p:sp>
        <p:nvSpPr>
          <p:cNvPr id="6" name="Text 4"/>
          <p:cNvSpPr/>
          <p:nvPr/>
        </p:nvSpPr>
        <p:spPr>
          <a:xfrm>
            <a:off x="722114" y="3719632"/>
            <a:ext cx="6341388" cy="990124"/>
          </a:xfrm>
          <a:prstGeom prst="rect">
            <a:avLst/>
          </a:prstGeom>
          <a:noFill/>
        </p:spPr>
        <p:txBody>
          <a:bodyPr wrap="square" lIns="0" tIns="0" rIns="0" bIns="0" rtlCol="0" anchor="t"/>
          <a:lstStyle/>
          <a:p>
            <a:pPr marL="342900" indent="-342900" algn="l">
              <a:lnSpc>
                <a:spcPts val="2550"/>
              </a:lnSpc>
              <a:buSzPct val="100000"/>
              <a:buChar char="•"/>
            </a:pPr>
            <a:r>
              <a:rPr lang="en-US" sz="16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Tool wear prediction: Displays the estimated remaining tool wear in minutes (e.g., "Predicted Remaining Tool Wear: [Value] minutes").</a:t>
            </a:r>
            <a:endParaRPr lang="en-US" sz="1600" dirty="0"/>
          </a:p>
        </p:txBody>
      </p:sp>
      <p:sp>
        <p:nvSpPr>
          <p:cNvPr id="7" name="Text 5"/>
          <p:cNvSpPr/>
          <p:nvPr/>
        </p:nvSpPr>
        <p:spPr>
          <a:xfrm>
            <a:off x="722114" y="4781907"/>
            <a:ext cx="6341388" cy="990124"/>
          </a:xfrm>
          <a:prstGeom prst="rect">
            <a:avLst/>
          </a:prstGeom>
          <a:noFill/>
        </p:spPr>
        <p:txBody>
          <a:bodyPr wrap="square" lIns="0" tIns="0" rIns="0" bIns="0" rtlCol="0" anchor="t"/>
          <a:lstStyle/>
          <a:p>
            <a:pPr marL="342900" indent="-342900" algn="l">
              <a:lnSpc>
                <a:spcPts val="2550"/>
              </a:lnSpc>
              <a:buSzPct val="100000"/>
              <a:buChar char="•"/>
            </a:pPr>
            <a:r>
              <a:rPr lang="en-US" sz="16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Machine failure prediction: Shows the probability of imminent machine failure  direct classification (e.g., "Predicted Outcome: [No Failure/Potential Failure]").</a:t>
            </a:r>
            <a:endParaRPr lang="en-US" sz="1600" dirty="0"/>
          </a:p>
        </p:txBody>
      </p:sp>
      <p:sp>
        <p:nvSpPr>
          <p:cNvPr id="8" name="Text 6"/>
          <p:cNvSpPr/>
          <p:nvPr/>
        </p:nvSpPr>
        <p:spPr>
          <a:xfrm>
            <a:off x="722114" y="5957649"/>
            <a:ext cx="6341388" cy="330041"/>
          </a:xfrm>
          <a:prstGeom prst="rect">
            <a:avLst/>
          </a:prstGeom>
          <a:noFill/>
        </p:spPr>
        <p:txBody>
          <a:bodyPr wrap="none" lIns="0" tIns="0" rIns="0" bIns="0" rtlCol="0" anchor="t"/>
          <a:lstStyle/>
          <a:p>
            <a:pPr marL="0" indent="0" algn="l">
              <a:lnSpc>
                <a:spcPts val="2550"/>
              </a:lnSpc>
              <a:buNone/>
            </a:pPr>
            <a:endParaRPr lang="en-US" sz="1600" dirty="0"/>
          </a:p>
        </p:txBody>
      </p:sp>
      <p:sp>
        <p:nvSpPr>
          <p:cNvPr id="9" name="Text 7"/>
          <p:cNvSpPr/>
          <p:nvPr/>
        </p:nvSpPr>
        <p:spPr>
          <a:xfrm>
            <a:off x="7574518" y="2471738"/>
            <a:ext cx="6341388" cy="330041"/>
          </a:xfrm>
          <a:prstGeom prst="rect">
            <a:avLst/>
          </a:prstGeom>
          <a:noFill/>
        </p:spPr>
        <p:txBody>
          <a:bodyPr wrap="none" lIns="0" tIns="0" rIns="0" bIns="0" rtlCol="0" anchor="t"/>
          <a:lstStyle/>
          <a:p>
            <a:pPr marL="0" indent="0" algn="l">
              <a:lnSpc>
                <a:spcPts val="2550"/>
              </a:lnSpc>
              <a:buNone/>
            </a:pPr>
            <a:r>
              <a:rPr lang="en-US" sz="160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Accessibility and potential impact:</a:t>
            </a:r>
            <a:endParaRPr lang="en-US" sz="1600" dirty="0"/>
          </a:p>
        </p:txBody>
      </p:sp>
      <p:sp>
        <p:nvSpPr>
          <p:cNvPr id="10" name="Text 8"/>
          <p:cNvSpPr/>
          <p:nvPr/>
        </p:nvSpPr>
        <p:spPr>
          <a:xfrm>
            <a:off x="7574518" y="2987397"/>
            <a:ext cx="6341388" cy="990124"/>
          </a:xfrm>
          <a:prstGeom prst="rect">
            <a:avLst/>
          </a:prstGeom>
          <a:noFill/>
        </p:spPr>
        <p:txBody>
          <a:bodyPr wrap="square" lIns="0" tIns="0" rIns="0" bIns="0" rtlCol="0" anchor="t"/>
          <a:lstStyle/>
          <a:p>
            <a:pPr marL="342900" indent="-342900" algn="l">
              <a:lnSpc>
                <a:spcPts val="2550"/>
              </a:lnSpc>
              <a:buSzPct val="100000"/>
              <a:buChar char="•"/>
            </a:pPr>
            <a:r>
              <a:rPr lang="en-US" sz="16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Streamlit application makes the predictive maintenance model accessible to a wider audience, including non-technical personnel (e.g., maintenance technicians, plant operators).</a:t>
            </a:r>
            <a:endParaRPr lang="en-US" sz="1600" dirty="0"/>
          </a:p>
        </p:txBody>
      </p:sp>
      <p:sp>
        <p:nvSpPr>
          <p:cNvPr id="11" name="Text 9"/>
          <p:cNvSpPr/>
          <p:nvPr/>
        </p:nvSpPr>
        <p:spPr>
          <a:xfrm>
            <a:off x="7574518" y="4049673"/>
            <a:ext cx="6341388" cy="660083"/>
          </a:xfrm>
          <a:prstGeom prst="rect">
            <a:avLst/>
          </a:prstGeom>
          <a:noFill/>
        </p:spPr>
        <p:txBody>
          <a:bodyPr wrap="square" lIns="0" tIns="0" rIns="0" bIns="0" rtlCol="0" anchor="t"/>
          <a:lstStyle/>
          <a:p>
            <a:pPr marL="342900" indent="-342900" algn="l">
              <a:lnSpc>
                <a:spcPts val="2550"/>
              </a:lnSpc>
              <a:buSzPct val="100000"/>
              <a:buChar char="•"/>
            </a:pPr>
            <a:r>
              <a:rPr lang="en-US" sz="16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Empowers users to proactively monitor machine health and plan maintenance schedules effectively.</a:t>
            </a:r>
            <a:endParaRPr lang="en-US" sz="1600" dirty="0"/>
          </a:p>
        </p:txBody>
      </p:sp>
      <p:sp>
        <p:nvSpPr>
          <p:cNvPr id="12" name="Text 10"/>
          <p:cNvSpPr/>
          <p:nvPr/>
        </p:nvSpPr>
        <p:spPr>
          <a:xfrm>
            <a:off x="7574518" y="4781907"/>
            <a:ext cx="6341388" cy="330041"/>
          </a:xfrm>
          <a:prstGeom prst="rect">
            <a:avLst/>
          </a:prstGeom>
          <a:noFill/>
        </p:spPr>
        <p:txBody>
          <a:bodyPr wrap="none" lIns="0" tIns="0" rIns="0" bIns="0" rtlCol="0" anchor="t"/>
          <a:lstStyle/>
          <a:p>
            <a:pPr marL="342900" indent="-342900" algn="l">
              <a:lnSpc>
                <a:spcPts val="2550"/>
              </a:lnSpc>
              <a:buSzPct val="100000"/>
              <a:buChar char="•"/>
            </a:pPr>
            <a:r>
              <a:rPr lang="en-US" sz="16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Potential Impact:</a:t>
            </a:r>
            <a:endParaRPr lang="en-US" sz="1600" dirty="0"/>
          </a:p>
        </p:txBody>
      </p:sp>
      <p:sp>
        <p:nvSpPr>
          <p:cNvPr id="13" name="Text 11"/>
          <p:cNvSpPr/>
          <p:nvPr/>
        </p:nvSpPr>
        <p:spPr>
          <a:xfrm>
            <a:off x="7574518" y="5184100"/>
            <a:ext cx="6341388" cy="330041"/>
          </a:xfrm>
          <a:prstGeom prst="rect">
            <a:avLst/>
          </a:prstGeom>
          <a:noFill/>
        </p:spPr>
        <p:txBody>
          <a:bodyPr wrap="none" lIns="0" tIns="0" rIns="0" bIns="0" rtlCol="0" anchor="t"/>
          <a:lstStyle/>
          <a:p>
            <a:pPr marL="685800" lvl="1" indent="-342900" algn="l">
              <a:lnSpc>
                <a:spcPts val="2550"/>
              </a:lnSpc>
              <a:buSzPct val="100000"/>
              <a:buChar char="•"/>
            </a:pPr>
            <a:r>
              <a:rPr lang="en-US" sz="16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Reduced unexpected machine downtime.</a:t>
            </a:r>
            <a:endParaRPr lang="en-US" sz="1600" dirty="0"/>
          </a:p>
        </p:txBody>
      </p:sp>
      <p:sp>
        <p:nvSpPr>
          <p:cNvPr id="14" name="Text 12"/>
          <p:cNvSpPr/>
          <p:nvPr/>
        </p:nvSpPr>
        <p:spPr>
          <a:xfrm>
            <a:off x="7574518" y="5586293"/>
            <a:ext cx="6341388" cy="330041"/>
          </a:xfrm>
          <a:prstGeom prst="rect">
            <a:avLst/>
          </a:prstGeom>
          <a:noFill/>
        </p:spPr>
        <p:txBody>
          <a:bodyPr wrap="none" lIns="0" tIns="0" rIns="0" bIns="0" rtlCol="0" anchor="t"/>
          <a:lstStyle/>
          <a:p>
            <a:pPr marL="685800" lvl="1" indent="-342900" algn="l">
              <a:lnSpc>
                <a:spcPts val="2550"/>
              </a:lnSpc>
              <a:buSzPct val="100000"/>
              <a:buChar char="•"/>
            </a:pPr>
            <a:r>
              <a:rPr lang="en-US" sz="16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Optimized tool replacement schedules, minimizing waste.</a:t>
            </a:r>
            <a:endParaRPr lang="en-US" sz="1600" dirty="0"/>
          </a:p>
        </p:txBody>
      </p:sp>
      <p:sp>
        <p:nvSpPr>
          <p:cNvPr id="15" name="Text 13"/>
          <p:cNvSpPr/>
          <p:nvPr/>
        </p:nvSpPr>
        <p:spPr>
          <a:xfrm>
            <a:off x="7574518" y="5988487"/>
            <a:ext cx="6341388" cy="330041"/>
          </a:xfrm>
          <a:prstGeom prst="rect">
            <a:avLst/>
          </a:prstGeom>
          <a:noFill/>
        </p:spPr>
        <p:txBody>
          <a:bodyPr wrap="none" lIns="0" tIns="0" rIns="0" bIns="0" rtlCol="0" anchor="t"/>
          <a:lstStyle/>
          <a:p>
            <a:pPr marL="685800" lvl="1" indent="-342900" algn="l">
              <a:lnSpc>
                <a:spcPts val="2550"/>
              </a:lnSpc>
              <a:buSzPct val="100000"/>
              <a:buChar char="•"/>
            </a:pPr>
            <a:r>
              <a:rPr lang="en-US" sz="16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Improved resource allocation for maintenance activities.</a:t>
            </a:r>
            <a:endParaRPr lang="en-US" sz="1600" dirty="0"/>
          </a:p>
        </p:txBody>
      </p:sp>
      <p:sp>
        <p:nvSpPr>
          <p:cNvPr id="16" name="Text 14"/>
          <p:cNvSpPr/>
          <p:nvPr/>
        </p:nvSpPr>
        <p:spPr>
          <a:xfrm>
            <a:off x="7574518" y="6390680"/>
            <a:ext cx="6341388" cy="330041"/>
          </a:xfrm>
          <a:prstGeom prst="rect">
            <a:avLst/>
          </a:prstGeom>
          <a:noFill/>
        </p:spPr>
        <p:txBody>
          <a:bodyPr wrap="none" lIns="0" tIns="0" rIns="0" bIns="0" rtlCol="0" anchor="t"/>
          <a:lstStyle/>
          <a:p>
            <a:pPr marL="685800" lvl="1" indent="-342900" algn="l">
              <a:lnSpc>
                <a:spcPts val="2550"/>
              </a:lnSpc>
              <a:buSzPct val="100000"/>
              <a:buChar char="•"/>
            </a:pPr>
            <a:r>
              <a:rPr lang="en-US" sz="16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Enhanced overall equipment efficiency (OEE).</a:t>
            </a:r>
            <a:endParaRPr lang="en-US" sz="1600" dirty="0"/>
          </a:p>
        </p:txBody>
      </p:sp>
      <p:sp>
        <p:nvSpPr>
          <p:cNvPr id="17" name="Text 15"/>
          <p:cNvSpPr/>
          <p:nvPr/>
        </p:nvSpPr>
        <p:spPr>
          <a:xfrm>
            <a:off x="7574518" y="6792873"/>
            <a:ext cx="6341388" cy="660083"/>
          </a:xfrm>
          <a:prstGeom prst="rect">
            <a:avLst/>
          </a:prstGeom>
          <a:noFill/>
        </p:spPr>
        <p:txBody>
          <a:bodyPr wrap="square" lIns="0" tIns="0" rIns="0" bIns="0" rtlCol="0" anchor="t"/>
          <a:lstStyle/>
          <a:p>
            <a:pPr marL="685800" lvl="1" indent="-342900" algn="l">
              <a:lnSpc>
                <a:spcPts val="2550"/>
              </a:lnSpc>
              <a:buSzPct val="100000"/>
              <a:buChar char="•"/>
            </a:pPr>
            <a:r>
              <a:rPr lang="en-US" sz="16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Contributes to cost savings and increased productivity in industrial settings.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0807" y="773787"/>
            <a:ext cx="12466915" cy="622459"/>
          </a:xfrm>
          <a:prstGeom prst="rect">
            <a:avLst/>
          </a:prstGeom>
          <a:noFill/>
        </p:spPr>
        <p:txBody>
          <a:bodyPr wrap="none" lIns="0" tIns="0" rIns="0" bIns="0" rtlCol="0" anchor="t"/>
          <a:lstStyle/>
          <a:p>
            <a:pPr marL="0" indent="0" algn="l">
              <a:lnSpc>
                <a:spcPts val="4900"/>
              </a:lnSpc>
              <a:buNone/>
            </a:pPr>
            <a:r>
              <a:rPr lang="en-US" sz="3900" dirty="0">
                <a:solidFill>
                  <a:srgbClr val="FFFFFF"/>
                </a:solidFill>
                <a:latin typeface="Kanit" pitchFamily="34" charset="0"/>
                <a:ea typeface="Kanit" pitchFamily="34" charset="-122"/>
                <a:cs typeface="Kanit" pitchFamily="34" charset="-120"/>
              </a:rPr>
              <a:t>Automated Casting Defect Detection: The "Baby Project"</a:t>
            </a:r>
            <a:endParaRPr lang="en-US" sz="3900" dirty="0"/>
          </a:p>
        </p:txBody>
      </p:sp>
      <p:pic>
        <p:nvPicPr>
          <p:cNvPr id="3" name="Image 0" descr="preencoded.png"/>
          <p:cNvPicPr>
            <a:picLocks noChangeAspect="1"/>
          </p:cNvPicPr>
          <p:nvPr/>
        </p:nvPicPr>
        <p:blipFill>
          <a:blip r:embed="rId1"/>
          <a:stretch>
            <a:fillRect/>
          </a:stretch>
        </p:blipFill>
        <p:spPr>
          <a:xfrm>
            <a:off x="2943225" y="1819513"/>
            <a:ext cx="2169438" cy="1538407"/>
          </a:xfrm>
          <a:prstGeom prst="rect">
            <a:avLst/>
          </a:prstGeom>
        </p:spPr>
      </p:pic>
      <p:sp>
        <p:nvSpPr>
          <p:cNvPr id="4" name="Text 1"/>
          <p:cNvSpPr/>
          <p:nvPr/>
        </p:nvSpPr>
        <p:spPr>
          <a:xfrm>
            <a:off x="3879056" y="2601635"/>
            <a:ext cx="297537" cy="371951"/>
          </a:xfrm>
          <a:prstGeom prst="rect">
            <a:avLst/>
          </a:prstGeom>
          <a:noFill/>
        </p:spPr>
        <p:txBody>
          <a:bodyPr wrap="none" lIns="0" tIns="0" rIns="0" bIns="0" rtlCol="0" anchor="t"/>
          <a:lstStyle/>
          <a:p>
            <a:pPr marL="0" indent="0" algn="ctr">
              <a:lnSpc>
                <a:spcPts val="3700"/>
              </a:lnSpc>
              <a:buNone/>
            </a:pPr>
            <a:r>
              <a:rPr lang="en-US" sz="2300" dirty="0">
                <a:solidFill>
                  <a:srgbClr val="D9E1FF"/>
                </a:solidFill>
                <a:latin typeface="Kanit" pitchFamily="34" charset="0"/>
                <a:ea typeface="Kanit" pitchFamily="34" charset="-122"/>
                <a:cs typeface="Kanit" pitchFamily="34" charset="-120"/>
              </a:rPr>
              <a:t>1</a:t>
            </a:r>
            <a:endParaRPr lang="en-US" sz="2300" dirty="0"/>
          </a:p>
        </p:txBody>
      </p:sp>
      <p:sp>
        <p:nvSpPr>
          <p:cNvPr id="5" name="Text 2"/>
          <p:cNvSpPr/>
          <p:nvPr/>
        </p:nvSpPr>
        <p:spPr>
          <a:xfrm>
            <a:off x="5324237" y="2031087"/>
            <a:ext cx="2490073" cy="311110"/>
          </a:xfrm>
          <a:prstGeom prst="rect">
            <a:avLst/>
          </a:prstGeom>
          <a:noFill/>
        </p:spPr>
        <p:txBody>
          <a:bodyPr wrap="none" lIns="0" tIns="0" rIns="0" bIns="0" rtlCol="0" anchor="t"/>
          <a:lstStyle/>
          <a:p>
            <a:pPr marL="0" indent="0" algn="l">
              <a:lnSpc>
                <a:spcPts val="2450"/>
              </a:lnSpc>
              <a:buNone/>
            </a:pPr>
            <a:r>
              <a:rPr lang="en-US" sz="1950" dirty="0">
                <a:solidFill>
                  <a:srgbClr val="D9E1FF"/>
                </a:solidFill>
                <a:latin typeface="Kanit" pitchFamily="34" charset="0"/>
                <a:ea typeface="Kanit" pitchFamily="34" charset="-122"/>
                <a:cs typeface="Kanit" pitchFamily="34" charset="-120"/>
              </a:rPr>
              <a:t>Problem Statement</a:t>
            </a:r>
            <a:endParaRPr lang="en-US" sz="1950" dirty="0"/>
          </a:p>
        </p:txBody>
      </p:sp>
      <p:sp>
        <p:nvSpPr>
          <p:cNvPr id="6" name="Text 3"/>
          <p:cNvSpPr/>
          <p:nvPr/>
        </p:nvSpPr>
        <p:spPr>
          <a:xfrm>
            <a:off x="5324237" y="2469118"/>
            <a:ext cx="8353782" cy="677228"/>
          </a:xfrm>
          <a:prstGeom prst="rect">
            <a:avLst/>
          </a:prstGeom>
          <a:noFill/>
        </p:spPr>
        <p:txBody>
          <a:bodyPr wrap="square" lIns="0" tIns="0" rIns="0" bIns="0" rtlCol="0" anchor="t"/>
          <a:lstStyle/>
          <a:p>
            <a:pPr marL="0" indent="0" algn="l">
              <a:lnSpc>
                <a:spcPts val="2650"/>
              </a:lnSpc>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Automated classification of casting images into "okay" or "defective" categories using a CNN model.</a:t>
            </a:r>
            <a:endParaRPr lang="en-US" sz="1650" dirty="0"/>
          </a:p>
        </p:txBody>
      </p:sp>
      <p:sp>
        <p:nvSpPr>
          <p:cNvPr id="7" name="Shape 4"/>
          <p:cNvSpPr/>
          <p:nvPr/>
        </p:nvSpPr>
        <p:spPr>
          <a:xfrm>
            <a:off x="5165527" y="3374827"/>
            <a:ext cx="8671203" cy="11430"/>
          </a:xfrm>
          <a:prstGeom prst="roundRect">
            <a:avLst>
              <a:gd name="adj" fmla="val 277774"/>
            </a:avLst>
          </a:prstGeom>
          <a:solidFill>
            <a:srgbClr val="48446D"/>
          </a:solidFill>
        </p:spPr>
      </p:sp>
      <p:pic>
        <p:nvPicPr>
          <p:cNvPr id="8" name="Image 1" descr="preencoded.png"/>
          <p:cNvPicPr>
            <a:picLocks noChangeAspect="1"/>
          </p:cNvPicPr>
          <p:nvPr/>
        </p:nvPicPr>
        <p:blipFill>
          <a:blip r:embed="rId2"/>
          <a:stretch>
            <a:fillRect/>
          </a:stretch>
        </p:blipFill>
        <p:spPr>
          <a:xfrm>
            <a:off x="1858447" y="3410783"/>
            <a:ext cx="4338995" cy="1538407"/>
          </a:xfrm>
          <a:prstGeom prst="rect">
            <a:avLst/>
          </a:prstGeom>
        </p:spPr>
      </p:pic>
      <p:sp>
        <p:nvSpPr>
          <p:cNvPr id="9" name="Text 5"/>
          <p:cNvSpPr/>
          <p:nvPr/>
        </p:nvSpPr>
        <p:spPr>
          <a:xfrm>
            <a:off x="3879056" y="3993952"/>
            <a:ext cx="297537" cy="371951"/>
          </a:xfrm>
          <a:prstGeom prst="rect">
            <a:avLst/>
          </a:prstGeom>
          <a:noFill/>
        </p:spPr>
        <p:txBody>
          <a:bodyPr wrap="none" lIns="0" tIns="0" rIns="0" bIns="0" rtlCol="0" anchor="t"/>
          <a:lstStyle/>
          <a:p>
            <a:pPr marL="0" indent="0" algn="ctr">
              <a:lnSpc>
                <a:spcPts val="3700"/>
              </a:lnSpc>
              <a:buNone/>
            </a:pPr>
            <a:r>
              <a:rPr lang="en-US" sz="2300" dirty="0">
                <a:solidFill>
                  <a:srgbClr val="D9E1FF"/>
                </a:solidFill>
                <a:latin typeface="Kanit" pitchFamily="34" charset="0"/>
                <a:ea typeface="Kanit" pitchFamily="34" charset="-122"/>
                <a:cs typeface="Kanit" pitchFamily="34" charset="-120"/>
              </a:rPr>
              <a:t>2</a:t>
            </a:r>
            <a:endParaRPr lang="en-US" sz="2300" dirty="0"/>
          </a:p>
        </p:txBody>
      </p:sp>
      <p:sp>
        <p:nvSpPr>
          <p:cNvPr id="10" name="Text 6"/>
          <p:cNvSpPr/>
          <p:nvPr/>
        </p:nvSpPr>
        <p:spPr>
          <a:xfrm>
            <a:off x="6409015" y="3622358"/>
            <a:ext cx="2490073" cy="311110"/>
          </a:xfrm>
          <a:prstGeom prst="rect">
            <a:avLst/>
          </a:prstGeom>
          <a:noFill/>
        </p:spPr>
        <p:txBody>
          <a:bodyPr wrap="none" lIns="0" tIns="0" rIns="0" bIns="0" rtlCol="0" anchor="t"/>
          <a:lstStyle/>
          <a:p>
            <a:pPr marL="0" indent="0" algn="l">
              <a:lnSpc>
                <a:spcPts val="2450"/>
              </a:lnSpc>
              <a:buNone/>
            </a:pPr>
            <a:r>
              <a:rPr lang="en-US" sz="1950" dirty="0">
                <a:solidFill>
                  <a:srgbClr val="D9E1FF"/>
                </a:solidFill>
                <a:latin typeface="Kanit" pitchFamily="34" charset="0"/>
                <a:ea typeface="Kanit" pitchFamily="34" charset="-122"/>
                <a:cs typeface="Kanit" pitchFamily="34" charset="-120"/>
              </a:rPr>
              <a:t>Data Acquisition</a:t>
            </a:r>
            <a:endParaRPr lang="en-US" sz="1950" dirty="0"/>
          </a:p>
        </p:txBody>
      </p:sp>
      <p:sp>
        <p:nvSpPr>
          <p:cNvPr id="11" name="Text 7"/>
          <p:cNvSpPr/>
          <p:nvPr/>
        </p:nvSpPr>
        <p:spPr>
          <a:xfrm>
            <a:off x="6409015" y="4060388"/>
            <a:ext cx="7269004" cy="677228"/>
          </a:xfrm>
          <a:prstGeom prst="rect">
            <a:avLst/>
          </a:prstGeom>
          <a:noFill/>
        </p:spPr>
        <p:txBody>
          <a:bodyPr wrap="square" lIns="0" tIns="0" rIns="0" bIns="0" rtlCol="0" anchor="t"/>
          <a:lstStyle/>
          <a:p>
            <a:pPr marL="0" indent="0" algn="l">
              <a:lnSpc>
                <a:spcPts val="2650"/>
              </a:lnSpc>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Loading and preparing the casting image dataset using TensorFlow/Keras.</a:t>
            </a:r>
            <a:endParaRPr lang="en-US" sz="1650" dirty="0"/>
          </a:p>
        </p:txBody>
      </p:sp>
      <p:sp>
        <p:nvSpPr>
          <p:cNvPr id="12" name="Shape 8"/>
          <p:cNvSpPr/>
          <p:nvPr/>
        </p:nvSpPr>
        <p:spPr>
          <a:xfrm>
            <a:off x="6250305" y="4966097"/>
            <a:ext cx="7586424" cy="11430"/>
          </a:xfrm>
          <a:prstGeom prst="roundRect">
            <a:avLst>
              <a:gd name="adj" fmla="val 277774"/>
            </a:avLst>
          </a:prstGeom>
          <a:solidFill>
            <a:srgbClr val="48446D"/>
          </a:solidFill>
        </p:spPr>
      </p:sp>
      <p:pic>
        <p:nvPicPr>
          <p:cNvPr id="13" name="Image 2" descr="preencoded.png"/>
          <p:cNvPicPr>
            <a:picLocks noChangeAspect="1"/>
          </p:cNvPicPr>
          <p:nvPr/>
        </p:nvPicPr>
        <p:blipFill>
          <a:blip r:embed="rId3"/>
          <a:stretch>
            <a:fillRect/>
          </a:stretch>
        </p:blipFill>
        <p:spPr>
          <a:xfrm>
            <a:off x="773668" y="5002054"/>
            <a:ext cx="6508552" cy="1538407"/>
          </a:xfrm>
          <a:prstGeom prst="rect">
            <a:avLst/>
          </a:prstGeom>
        </p:spPr>
      </p:pic>
      <p:sp>
        <p:nvSpPr>
          <p:cNvPr id="14" name="Text 9"/>
          <p:cNvSpPr/>
          <p:nvPr/>
        </p:nvSpPr>
        <p:spPr>
          <a:xfrm>
            <a:off x="3879056" y="5585222"/>
            <a:ext cx="297537" cy="371951"/>
          </a:xfrm>
          <a:prstGeom prst="rect">
            <a:avLst/>
          </a:prstGeom>
          <a:noFill/>
        </p:spPr>
        <p:txBody>
          <a:bodyPr wrap="none" lIns="0" tIns="0" rIns="0" bIns="0" rtlCol="0" anchor="t"/>
          <a:lstStyle/>
          <a:p>
            <a:pPr marL="0" indent="0" algn="ctr">
              <a:lnSpc>
                <a:spcPts val="3700"/>
              </a:lnSpc>
              <a:buNone/>
            </a:pPr>
            <a:r>
              <a:rPr lang="en-US" sz="2300" dirty="0">
                <a:solidFill>
                  <a:srgbClr val="D9E1FF"/>
                </a:solidFill>
                <a:latin typeface="Kanit" pitchFamily="34" charset="0"/>
                <a:ea typeface="Kanit" pitchFamily="34" charset="-122"/>
                <a:cs typeface="Kanit" pitchFamily="34" charset="-120"/>
              </a:rPr>
              <a:t>3</a:t>
            </a:r>
            <a:endParaRPr lang="en-US" sz="2300" dirty="0"/>
          </a:p>
        </p:txBody>
      </p:sp>
      <p:sp>
        <p:nvSpPr>
          <p:cNvPr id="15" name="Text 10"/>
          <p:cNvSpPr/>
          <p:nvPr/>
        </p:nvSpPr>
        <p:spPr>
          <a:xfrm>
            <a:off x="7493794" y="5213628"/>
            <a:ext cx="2490073" cy="311110"/>
          </a:xfrm>
          <a:prstGeom prst="rect">
            <a:avLst/>
          </a:prstGeom>
          <a:noFill/>
        </p:spPr>
        <p:txBody>
          <a:bodyPr wrap="none" lIns="0" tIns="0" rIns="0" bIns="0" rtlCol="0" anchor="t"/>
          <a:lstStyle/>
          <a:p>
            <a:pPr marL="0" indent="0" algn="l">
              <a:lnSpc>
                <a:spcPts val="2450"/>
              </a:lnSpc>
              <a:buNone/>
            </a:pPr>
            <a:r>
              <a:rPr lang="en-US" sz="1950" dirty="0">
                <a:solidFill>
                  <a:srgbClr val="D9E1FF"/>
                </a:solidFill>
                <a:latin typeface="Kanit" pitchFamily="34" charset="0"/>
                <a:ea typeface="Kanit" pitchFamily="34" charset="-122"/>
                <a:cs typeface="Kanit" pitchFamily="34" charset="-120"/>
              </a:rPr>
              <a:t>Model Architecture</a:t>
            </a:r>
            <a:endParaRPr lang="en-US" sz="1950" dirty="0"/>
          </a:p>
        </p:txBody>
      </p:sp>
      <p:sp>
        <p:nvSpPr>
          <p:cNvPr id="16" name="Text 11"/>
          <p:cNvSpPr/>
          <p:nvPr/>
        </p:nvSpPr>
        <p:spPr>
          <a:xfrm>
            <a:off x="7493794" y="5651659"/>
            <a:ext cx="6184225" cy="677228"/>
          </a:xfrm>
          <a:prstGeom prst="rect">
            <a:avLst/>
          </a:prstGeom>
          <a:noFill/>
        </p:spPr>
        <p:txBody>
          <a:bodyPr wrap="square" lIns="0" tIns="0" rIns="0" bIns="0" rtlCol="0" anchor="t"/>
          <a:lstStyle/>
          <a:p>
            <a:pPr marL="0" indent="0" algn="l">
              <a:lnSpc>
                <a:spcPts val="2650"/>
              </a:lnSpc>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Designing and implementing a Convolutional Neural Network (CNN) for image classification.</a:t>
            </a:r>
            <a:endParaRPr lang="en-US" sz="1650" dirty="0"/>
          </a:p>
        </p:txBody>
      </p:sp>
      <p:sp>
        <p:nvSpPr>
          <p:cNvPr id="17" name="Text 12"/>
          <p:cNvSpPr/>
          <p:nvPr/>
        </p:nvSpPr>
        <p:spPr>
          <a:xfrm>
            <a:off x="740807" y="6778466"/>
            <a:ext cx="13148786" cy="677228"/>
          </a:xfrm>
          <a:prstGeom prst="rect">
            <a:avLst/>
          </a:prstGeom>
          <a:noFill/>
        </p:spPr>
        <p:txBody>
          <a:bodyPr wrap="square" lIns="0" tIns="0" rIns="0" bIns="0" rtlCol="0" anchor="t"/>
          <a:lstStyle/>
          <a:p>
            <a:pPr marL="0" indent="0" algn="l">
              <a:lnSpc>
                <a:spcPts val="2650"/>
              </a:lnSpc>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"Baby Project" addresses the need for efficient and consistent quality control in manufacturing. Manual inspection can be time-consuming and subjective. An automated system improves speed and accuracy, leading to higher product quality and reduced waste.</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3664" y="659606"/>
            <a:ext cx="4999315" cy="624840"/>
          </a:xfrm>
          <a:prstGeom prst="rect">
            <a:avLst/>
          </a:prstGeom>
          <a:noFill/>
        </p:spPr>
        <p:txBody>
          <a:bodyPr wrap="none" lIns="0" tIns="0" rIns="0" bIns="0" rtlCol="0" anchor="t"/>
          <a:lstStyle/>
          <a:p>
            <a:pPr marL="0" indent="0" algn="l">
              <a:lnSpc>
                <a:spcPts val="4900"/>
              </a:lnSpc>
              <a:buNone/>
            </a:pPr>
            <a:endParaRPr lang="en-US" sz="3900" dirty="0"/>
          </a:p>
        </p:txBody>
      </p:sp>
      <p:sp>
        <p:nvSpPr>
          <p:cNvPr id="3" name="Text 1"/>
          <p:cNvSpPr/>
          <p:nvPr/>
        </p:nvSpPr>
        <p:spPr>
          <a:xfrm>
            <a:off x="743664" y="1794272"/>
            <a:ext cx="6312337" cy="340043"/>
          </a:xfrm>
          <a:prstGeom prst="rect">
            <a:avLst/>
          </a:prstGeom>
          <a:noFill/>
        </p:spPr>
        <p:txBody>
          <a:bodyPr wrap="none" lIns="0" tIns="0" rIns="0" bIns="0" rtlCol="0" anchor="t"/>
          <a:lstStyle/>
          <a:p>
            <a:pPr marL="0" indent="0" algn="l">
              <a:lnSpc>
                <a:spcPts val="2650"/>
              </a:lnSpc>
              <a:buNone/>
            </a:pPr>
            <a:r>
              <a:rPr lang="en-US" sz="16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Data Preparation:</a:t>
            </a:r>
            <a:endParaRPr lang="en-US" sz="1650" dirty="0"/>
          </a:p>
        </p:txBody>
      </p:sp>
      <p:sp>
        <p:nvSpPr>
          <p:cNvPr id="4" name="Text 2"/>
          <p:cNvSpPr/>
          <p:nvPr/>
        </p:nvSpPr>
        <p:spPr>
          <a:xfrm>
            <a:off x="743664" y="2325529"/>
            <a:ext cx="6312337" cy="680085"/>
          </a:xfrm>
          <a:prstGeom prst="rect">
            <a:avLst/>
          </a:prstGeom>
          <a:noFill/>
        </p:spPr>
        <p:txBody>
          <a:bodyPr wrap="square" lIns="0" tIns="0" rIns="0" bIns="0" rtlCol="0" anchor="t"/>
          <a:lstStyle/>
          <a:p>
            <a:pPr marL="342900" indent="-342900" algn="l">
              <a:lnSpc>
                <a:spcPts val="2650"/>
              </a:lnSpc>
              <a:buSzPct val="100000"/>
              <a:buChar char="•"/>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"Casting Products Images Defects Detection" dataset from Kaggle was used.</a:t>
            </a:r>
            <a:endParaRPr lang="en-US" sz="1650" dirty="0"/>
          </a:p>
        </p:txBody>
      </p:sp>
      <p:sp>
        <p:nvSpPr>
          <p:cNvPr id="5" name="Text 3"/>
          <p:cNvSpPr/>
          <p:nvPr/>
        </p:nvSpPr>
        <p:spPr>
          <a:xfrm>
            <a:off x="743664" y="3079909"/>
            <a:ext cx="6312337" cy="718185"/>
          </a:xfrm>
          <a:prstGeom prst="rect">
            <a:avLst/>
          </a:prstGeom>
          <a:noFill/>
        </p:spPr>
        <p:txBody>
          <a:bodyPr wrap="square" lIns="0" tIns="0" rIns="0" bIns="0" rtlCol="0" anchor="t"/>
          <a:lstStyle/>
          <a:p>
            <a:pPr marL="0" indent="0" algn="l">
              <a:lnSpc>
                <a:spcPts val="2650"/>
              </a:lnSpc>
              <a:buSzPct val="100000"/>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dataset contained images organized into two folders: </a:t>
            </a:r>
            <a:r>
              <a:rPr lang="en-US" sz="1650" dirty="0">
                <a:solidFill>
                  <a:srgbClr val="D9E1FF"/>
                </a:solidFill>
                <a:highlight>
                  <a:srgbClr val="4C0107"/>
                </a:highlight>
                <a:latin typeface="Consolas" panose="020B0609020204030204" pitchFamily="34" charset="0"/>
                <a:ea typeface="Consolas" panose="020B0609020204030204" pitchFamily="34" charset="-122"/>
                <a:cs typeface="Consolas" panose="020B0609020204030204" pitchFamily="34" charset="-120"/>
              </a:rPr>
              <a:t>OK</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and </a:t>
            </a:r>
            <a:r>
              <a:rPr lang="en-US" sz="1650" dirty="0">
                <a:solidFill>
                  <a:srgbClr val="D9E1FF"/>
                </a:solidFill>
                <a:highlight>
                  <a:srgbClr val="4C0107"/>
                </a:highlight>
                <a:latin typeface="Consolas" panose="020B0609020204030204" pitchFamily="34" charset="0"/>
                <a:ea typeface="Consolas" panose="020B0609020204030204" pitchFamily="34" charset="-122"/>
                <a:cs typeface="Consolas" panose="020B0609020204030204" pitchFamily="34" charset="-120"/>
              </a:rPr>
              <a:t>DEF</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t>
            </a:r>
            <a:endParaRPr lang="en-US" sz="1650" dirty="0"/>
          </a:p>
        </p:txBody>
      </p:sp>
      <p:sp>
        <p:nvSpPr>
          <p:cNvPr id="6" name="Text 4"/>
          <p:cNvSpPr/>
          <p:nvPr/>
        </p:nvSpPr>
        <p:spPr>
          <a:xfrm>
            <a:off x="743664" y="3872389"/>
            <a:ext cx="6312337" cy="718185"/>
          </a:xfrm>
          <a:prstGeom prst="rect">
            <a:avLst/>
          </a:prstGeom>
          <a:noFill/>
        </p:spPr>
        <p:txBody>
          <a:bodyPr wrap="square" lIns="0" tIns="0" rIns="0" bIns="0" rtlCol="0" anchor="t"/>
          <a:lstStyle/>
          <a:p>
            <a:pPr marL="0" indent="0" algn="l">
              <a:lnSpc>
                <a:spcPts val="2650"/>
              </a:lnSpc>
              <a:buSzPct val="100000"/>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Discussed using </a:t>
            </a:r>
            <a:r>
              <a:rPr lang="en-US" sz="1650" dirty="0">
                <a:solidFill>
                  <a:srgbClr val="D9E1FF"/>
                </a:solidFill>
                <a:highlight>
                  <a:srgbClr val="4C0107"/>
                </a:highlight>
                <a:latin typeface="Consolas" panose="020B0609020204030204" pitchFamily="34" charset="0"/>
                <a:ea typeface="Consolas" panose="020B0609020204030204" pitchFamily="34" charset="-122"/>
                <a:cs typeface="Consolas" panose="020B0609020204030204" pitchFamily="34" charset="-120"/>
              </a:rPr>
              <a:t>ImageDataGenerator</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from Keras for preprocessing and augmentation. This involved:</a:t>
            </a:r>
            <a:endParaRPr lang="en-US" sz="1650" dirty="0"/>
          </a:p>
        </p:txBody>
      </p:sp>
      <p:sp>
        <p:nvSpPr>
          <p:cNvPr id="7" name="Text 5"/>
          <p:cNvSpPr/>
          <p:nvPr/>
        </p:nvSpPr>
        <p:spPr>
          <a:xfrm>
            <a:off x="743664" y="4664869"/>
            <a:ext cx="6312337" cy="680085"/>
          </a:xfrm>
          <a:prstGeom prst="rect">
            <a:avLst/>
          </a:prstGeom>
          <a:noFill/>
        </p:spPr>
        <p:txBody>
          <a:bodyPr wrap="square" lIns="0" tIns="0" rIns="0" bIns="0" rtlCol="0" anchor="t"/>
          <a:lstStyle/>
          <a:p>
            <a:pPr marL="0" lvl="1" indent="0" algn="l">
              <a:lnSpc>
                <a:spcPts val="2650"/>
              </a:lnSpc>
              <a:buSzPct val="100000"/>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Resizing images to a consistent size </a:t>
            </a:r>
            <a:r>
              <a:rPr lang="en-US" sz="16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150x150 pixels</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for the CNN input.</a:t>
            </a:r>
            <a:endParaRPr lang="en-US" sz="1650" dirty="0"/>
          </a:p>
        </p:txBody>
      </p:sp>
      <p:sp>
        <p:nvSpPr>
          <p:cNvPr id="8" name="Text 6"/>
          <p:cNvSpPr/>
          <p:nvPr/>
        </p:nvSpPr>
        <p:spPr>
          <a:xfrm>
            <a:off x="743664" y="5419249"/>
            <a:ext cx="6312337" cy="718185"/>
          </a:xfrm>
          <a:prstGeom prst="rect">
            <a:avLst/>
          </a:prstGeom>
          <a:noFill/>
        </p:spPr>
        <p:txBody>
          <a:bodyPr wrap="square" lIns="0" tIns="0" rIns="0" bIns="0" rtlCol="0" anchor="t"/>
          <a:lstStyle/>
          <a:p>
            <a:pPr marL="0" lvl="1" indent="0" algn="l">
              <a:lnSpc>
                <a:spcPts val="2650"/>
              </a:lnSpc>
              <a:buSzPct val="100000"/>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Normalizing pixel values by scaling them to the range [0, 1] using </a:t>
            </a:r>
            <a:r>
              <a:rPr lang="en-US" sz="1650" dirty="0">
                <a:solidFill>
                  <a:srgbClr val="D9E1FF"/>
                </a:solidFill>
                <a:highlight>
                  <a:srgbClr val="4C0107"/>
                </a:highlight>
                <a:latin typeface="Consolas" panose="020B0609020204030204" pitchFamily="34" charset="0"/>
                <a:ea typeface="Consolas" panose="020B0609020204030204" pitchFamily="34" charset="-122"/>
                <a:cs typeface="Consolas" panose="020B0609020204030204" pitchFamily="34" charset="-120"/>
              </a:rPr>
              <a:t>rescale=1./255</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t>
            </a:r>
            <a:endParaRPr lang="en-US" sz="1650" dirty="0"/>
          </a:p>
        </p:txBody>
      </p:sp>
      <p:sp>
        <p:nvSpPr>
          <p:cNvPr id="9" name="Text 7"/>
          <p:cNvSpPr/>
          <p:nvPr/>
        </p:nvSpPr>
        <p:spPr>
          <a:xfrm>
            <a:off x="743664" y="6211729"/>
            <a:ext cx="6312337" cy="1096328"/>
          </a:xfrm>
          <a:prstGeom prst="rect">
            <a:avLst/>
          </a:prstGeom>
          <a:noFill/>
        </p:spPr>
        <p:txBody>
          <a:bodyPr wrap="square" lIns="0" tIns="0" rIns="0" bIns="0" rtlCol="0" anchor="t"/>
          <a:lstStyle/>
          <a:p>
            <a:pPr marL="0" lvl="1" indent="0" algn="l">
              <a:lnSpc>
                <a:spcPts val="2650"/>
              </a:lnSpc>
              <a:buSzPct val="100000"/>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dataset was split into training and validation sets using the </a:t>
            </a:r>
            <a:r>
              <a:rPr lang="en-US" sz="1650" dirty="0">
                <a:solidFill>
                  <a:srgbClr val="D9E1FF"/>
                </a:solidFill>
                <a:highlight>
                  <a:srgbClr val="4C0107"/>
                </a:highlight>
                <a:latin typeface="Consolas" panose="020B0609020204030204" pitchFamily="34" charset="0"/>
                <a:ea typeface="Consolas" panose="020B0609020204030204" pitchFamily="34" charset="-122"/>
                <a:cs typeface="Consolas" panose="020B0609020204030204" pitchFamily="34" charset="-120"/>
              </a:rPr>
              <a:t>validation_split</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parameter within </a:t>
            </a:r>
            <a:r>
              <a:rPr lang="en-US" sz="1650" dirty="0">
                <a:solidFill>
                  <a:srgbClr val="D9E1FF"/>
                </a:solidFill>
                <a:highlight>
                  <a:srgbClr val="4C0107"/>
                </a:highlight>
                <a:latin typeface="Consolas" panose="020B0609020204030204" pitchFamily="34" charset="0"/>
                <a:ea typeface="Consolas" panose="020B0609020204030204" pitchFamily="34" charset="-122"/>
                <a:cs typeface="Consolas" panose="020B0609020204030204" pitchFamily="34" charset="-120"/>
              </a:rPr>
              <a:t>ImageDataGenerator</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t>
            </a:r>
            <a:endParaRPr lang="en-US" sz="1650" dirty="0"/>
          </a:p>
        </p:txBody>
      </p:sp>
      <p:sp>
        <p:nvSpPr>
          <p:cNvPr id="10" name="Text 8"/>
          <p:cNvSpPr/>
          <p:nvPr/>
        </p:nvSpPr>
        <p:spPr>
          <a:xfrm>
            <a:off x="7582019" y="1794272"/>
            <a:ext cx="6312337" cy="340043"/>
          </a:xfrm>
          <a:prstGeom prst="rect">
            <a:avLst/>
          </a:prstGeom>
          <a:noFill/>
        </p:spPr>
        <p:txBody>
          <a:bodyPr wrap="none" lIns="0" tIns="0" rIns="0" bIns="0" rtlCol="0" anchor="t"/>
          <a:lstStyle/>
          <a:p>
            <a:pPr marL="0" indent="0" algn="l">
              <a:lnSpc>
                <a:spcPts val="2650"/>
              </a:lnSpc>
              <a:buNone/>
            </a:pPr>
            <a:r>
              <a:rPr lang="en-US" sz="16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CNN Architecture:</a:t>
            </a:r>
            <a:endParaRPr lang="en-US" sz="1650" dirty="0"/>
          </a:p>
        </p:txBody>
      </p:sp>
      <p:sp>
        <p:nvSpPr>
          <p:cNvPr id="11" name="Text 9"/>
          <p:cNvSpPr/>
          <p:nvPr/>
        </p:nvSpPr>
        <p:spPr>
          <a:xfrm>
            <a:off x="7582019" y="2325529"/>
            <a:ext cx="6312337" cy="680085"/>
          </a:xfrm>
          <a:prstGeom prst="rect">
            <a:avLst/>
          </a:prstGeom>
          <a:noFill/>
        </p:spPr>
        <p:txBody>
          <a:bodyPr wrap="square" lIns="0" tIns="0" rIns="0" bIns="0" rtlCol="0" anchor="t"/>
          <a:lstStyle/>
          <a:p>
            <a:pPr marL="342900" indent="-342900" algn="l">
              <a:lnSpc>
                <a:spcPts val="2650"/>
              </a:lnSpc>
              <a:buSzPct val="100000"/>
              <a:buChar char="•"/>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Built a sequential CNN model using Keras. The architecture outlined involved:</a:t>
            </a:r>
            <a:endParaRPr lang="en-US" sz="1650" dirty="0"/>
          </a:p>
        </p:txBody>
      </p:sp>
      <p:sp>
        <p:nvSpPr>
          <p:cNvPr id="12" name="Text 10"/>
          <p:cNvSpPr/>
          <p:nvPr/>
        </p:nvSpPr>
        <p:spPr>
          <a:xfrm>
            <a:off x="7582019" y="3079909"/>
            <a:ext cx="6312337" cy="1058228"/>
          </a:xfrm>
          <a:prstGeom prst="rect">
            <a:avLst/>
          </a:prstGeom>
          <a:noFill/>
        </p:spPr>
        <p:txBody>
          <a:bodyPr wrap="square" lIns="0" tIns="0" rIns="0" bIns="0" rtlCol="0" anchor="t"/>
          <a:lstStyle/>
          <a:p>
            <a:pPr marL="0" lvl="1" indent="0" algn="l">
              <a:lnSpc>
                <a:spcPts val="2650"/>
              </a:lnSpc>
              <a:buSzPct val="100000"/>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An initial </a:t>
            </a:r>
            <a:r>
              <a:rPr lang="en-US" sz="16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Convolutional layer</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with 32 filters, a kernel size of 3x3, and ReLU activation, taking the input shape of our resized images (e.g., </a:t>
            </a:r>
            <a:r>
              <a:rPr lang="en-US" sz="1650" dirty="0">
                <a:solidFill>
                  <a:srgbClr val="D9E1FF"/>
                </a:solidFill>
                <a:highlight>
                  <a:srgbClr val="4C0107"/>
                </a:highlight>
                <a:latin typeface="Consolas" panose="020B0609020204030204" pitchFamily="34" charset="0"/>
                <a:ea typeface="Consolas" panose="020B0609020204030204" pitchFamily="34" charset="-122"/>
                <a:cs typeface="Consolas" panose="020B0609020204030204" pitchFamily="34" charset="-120"/>
              </a:rPr>
              <a:t>(150, 150, 3)</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for color images).</a:t>
            </a:r>
            <a:endParaRPr lang="en-US" sz="1650" dirty="0"/>
          </a:p>
        </p:txBody>
      </p:sp>
      <p:sp>
        <p:nvSpPr>
          <p:cNvPr id="13" name="Text 11"/>
          <p:cNvSpPr/>
          <p:nvPr/>
        </p:nvSpPr>
        <p:spPr>
          <a:xfrm>
            <a:off x="7582019" y="4212431"/>
            <a:ext cx="6312337" cy="680085"/>
          </a:xfrm>
          <a:prstGeom prst="rect">
            <a:avLst/>
          </a:prstGeom>
          <a:noFill/>
        </p:spPr>
        <p:txBody>
          <a:bodyPr wrap="square" lIns="0" tIns="0" rIns="0" bIns="0" rtlCol="0" anchor="t"/>
          <a:lstStyle/>
          <a:p>
            <a:pPr marL="0" lvl="1" indent="0" algn="l">
              <a:lnSpc>
                <a:spcPts val="2650"/>
              </a:lnSpc>
              <a:buSzPct val="100000"/>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 </a:t>
            </a:r>
            <a:r>
              <a:rPr lang="en-US" sz="16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MaxPooling layer</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with a pool size of 2x2 to reduce spatial dimensions.</a:t>
            </a:r>
            <a:endParaRPr lang="en-US" sz="1650" dirty="0"/>
          </a:p>
        </p:txBody>
      </p:sp>
      <p:sp>
        <p:nvSpPr>
          <p:cNvPr id="14" name="Text 12"/>
          <p:cNvSpPr/>
          <p:nvPr/>
        </p:nvSpPr>
        <p:spPr>
          <a:xfrm>
            <a:off x="7582019" y="4966811"/>
            <a:ext cx="6312337" cy="680085"/>
          </a:xfrm>
          <a:prstGeom prst="rect">
            <a:avLst/>
          </a:prstGeom>
          <a:noFill/>
        </p:spPr>
        <p:txBody>
          <a:bodyPr wrap="square" lIns="0" tIns="0" rIns="0" bIns="0" rtlCol="0" anchor="t"/>
          <a:lstStyle/>
          <a:p>
            <a:pPr marL="0" lvl="1" indent="0" algn="l">
              <a:lnSpc>
                <a:spcPts val="2650"/>
              </a:lnSpc>
              <a:buSzPct val="100000"/>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 </a:t>
            </a:r>
            <a:r>
              <a:rPr lang="en-US" sz="16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Flatten layer</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to convert the 2D feature maps into a 1D vector.</a:t>
            </a:r>
            <a:endParaRPr lang="en-US" sz="1650" dirty="0"/>
          </a:p>
        </p:txBody>
      </p:sp>
      <p:sp>
        <p:nvSpPr>
          <p:cNvPr id="15" name="Text 13"/>
          <p:cNvSpPr/>
          <p:nvPr/>
        </p:nvSpPr>
        <p:spPr>
          <a:xfrm>
            <a:off x="7582019" y="5721191"/>
            <a:ext cx="6312337" cy="680085"/>
          </a:xfrm>
          <a:prstGeom prst="rect">
            <a:avLst/>
          </a:prstGeom>
          <a:noFill/>
        </p:spPr>
        <p:txBody>
          <a:bodyPr wrap="square" lIns="0" tIns="0" rIns="0" bIns="0" rtlCol="0" anchor="t"/>
          <a:lstStyle/>
          <a:p>
            <a:pPr marL="0" lvl="1" indent="0" algn="l">
              <a:lnSpc>
                <a:spcPts val="2650"/>
              </a:lnSpc>
              <a:buSzPct val="100000"/>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One or more </a:t>
            </a:r>
            <a:r>
              <a:rPr lang="en-US" sz="16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Dense layers</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for classification.  Used a hidden Dense layer with ReLU activation ( </a:t>
            </a:r>
            <a:r>
              <a:rPr lang="en-US" sz="16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128 units</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t>
            </a:r>
            <a:endParaRPr lang="en-US" sz="1650" dirty="0"/>
          </a:p>
        </p:txBody>
      </p:sp>
      <p:sp>
        <p:nvSpPr>
          <p:cNvPr id="16" name="Text 14"/>
          <p:cNvSpPr/>
          <p:nvPr/>
        </p:nvSpPr>
        <p:spPr>
          <a:xfrm>
            <a:off x="7582019" y="6475571"/>
            <a:ext cx="6312337" cy="1020128"/>
          </a:xfrm>
          <a:prstGeom prst="rect">
            <a:avLst/>
          </a:prstGeom>
          <a:noFill/>
        </p:spPr>
        <p:txBody>
          <a:bodyPr wrap="square" lIns="0" tIns="0" rIns="0" bIns="0" rtlCol="0" anchor="t"/>
          <a:lstStyle/>
          <a:p>
            <a:pPr marL="0" lvl="1" indent="0" algn="l">
              <a:lnSpc>
                <a:spcPts val="2650"/>
              </a:lnSpc>
              <a:buSzPct val="100000"/>
              <a:buNone/>
            </a:pP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 final </a:t>
            </a:r>
            <a:r>
              <a:rPr lang="en-US" sz="16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Dense output layer</a:t>
            </a:r>
            <a:r>
              <a:rPr lang="en-US" sz="16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with 1 unit and a sigmoid activation function for binary classification (okay or defective).</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724" y="1092756"/>
            <a:ext cx="5632490" cy="704017"/>
          </a:xfrm>
          <a:prstGeom prst="rect">
            <a:avLst/>
          </a:prstGeom>
          <a:noFill/>
        </p:spPr>
        <p:txBody>
          <a:bodyPr wrap="none" lIns="0" tIns="0" rIns="0" bIns="0" rtlCol="0" anchor="t"/>
          <a:lstStyle/>
          <a:p>
            <a:pPr marL="0" indent="0" algn="l">
              <a:lnSpc>
                <a:spcPts val="5500"/>
              </a:lnSpc>
              <a:buNone/>
            </a:pPr>
            <a:endParaRPr lang="en-US" sz="4400" dirty="0"/>
          </a:p>
        </p:txBody>
      </p:sp>
      <p:sp>
        <p:nvSpPr>
          <p:cNvPr id="3" name="Text 1"/>
          <p:cNvSpPr/>
          <p:nvPr/>
        </p:nvSpPr>
        <p:spPr>
          <a:xfrm>
            <a:off x="837724" y="2371130"/>
            <a:ext cx="6185535" cy="383024"/>
          </a:xfrm>
          <a:prstGeom prst="rect">
            <a:avLst/>
          </a:prstGeom>
          <a:noFill/>
        </p:spPr>
        <p:txBody>
          <a:bodyPr wrap="none" lIns="0" tIns="0" rIns="0" bIns="0" rtlCol="0" anchor="t"/>
          <a:lstStyle/>
          <a:p>
            <a:pPr marL="0" indent="0" algn="l">
              <a:lnSpc>
                <a:spcPts val="3000"/>
              </a:lnSpc>
              <a:buNone/>
            </a:pP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Model Training and Results:</a:t>
            </a:r>
            <a:endParaRPr lang="en-US" sz="1850" dirty="0"/>
          </a:p>
        </p:txBody>
      </p:sp>
      <p:sp>
        <p:nvSpPr>
          <p:cNvPr id="4" name="Text 2"/>
          <p:cNvSpPr/>
          <p:nvPr/>
        </p:nvSpPr>
        <p:spPr>
          <a:xfrm>
            <a:off x="837724" y="2969538"/>
            <a:ext cx="6185535" cy="804148"/>
          </a:xfrm>
          <a:prstGeom prst="rect">
            <a:avLst/>
          </a:prstGeom>
          <a:noFill/>
        </p:spPr>
        <p:txBody>
          <a:bodyPr wrap="square" lIns="0" tIns="0" rIns="0" bIns="0" rtlCol="0" anchor="t"/>
          <a:lstStyle/>
          <a:p>
            <a:pPr marL="0" indent="0" algn="l">
              <a:lnSpc>
                <a:spcPts val="3000"/>
              </a:lnSpc>
              <a:buSzPct val="100000"/>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model was trained using the training data generated by </a:t>
            </a:r>
            <a:r>
              <a:rPr lang="en-US" sz="1850" dirty="0">
                <a:solidFill>
                  <a:srgbClr val="D9E1FF"/>
                </a:solidFill>
                <a:highlight>
                  <a:srgbClr val="4C0107"/>
                </a:highlight>
                <a:latin typeface="Consolas" panose="020B0609020204030204" pitchFamily="34" charset="0"/>
                <a:ea typeface="Consolas" panose="020B0609020204030204" pitchFamily="34" charset="-122"/>
                <a:cs typeface="Consolas" panose="020B0609020204030204" pitchFamily="34" charset="-120"/>
              </a:rPr>
              <a:t>ImageDataGenerator</a:t>
            </a: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t>
            </a:r>
            <a:endParaRPr lang="en-US" sz="1850" dirty="0"/>
          </a:p>
        </p:txBody>
      </p:sp>
      <p:sp>
        <p:nvSpPr>
          <p:cNvPr id="5" name="Text 3"/>
          <p:cNvSpPr/>
          <p:nvPr/>
        </p:nvSpPr>
        <p:spPr>
          <a:xfrm>
            <a:off x="837724" y="3857387"/>
            <a:ext cx="6185535" cy="1149072"/>
          </a:xfrm>
          <a:prstGeom prst="rect">
            <a:avLst/>
          </a:prstGeom>
          <a:noFill/>
        </p:spPr>
        <p:txBody>
          <a:bodyPr wrap="square" lIns="0" tIns="0" rIns="0" bIns="0" rtlCol="0" anchor="t"/>
          <a:lstStyle/>
          <a:p>
            <a:pPr marL="0" indent="0" algn="l">
              <a:lnSpc>
                <a:spcPts val="3000"/>
              </a:lnSpc>
              <a:buSzPct val="100000"/>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Used the </a:t>
            </a: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Adam optimizer</a:t>
            </a: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and </a:t>
            </a: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binary cross-entropy loss</a:t>
            </a: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function, appropriate for binary classification.</a:t>
            </a:r>
            <a:endParaRPr lang="en-US" sz="1850" dirty="0"/>
          </a:p>
        </p:txBody>
      </p:sp>
      <p:sp>
        <p:nvSpPr>
          <p:cNvPr id="6" name="Text 4"/>
          <p:cNvSpPr/>
          <p:nvPr/>
        </p:nvSpPr>
        <p:spPr>
          <a:xfrm>
            <a:off x="837724" y="5090160"/>
            <a:ext cx="6185535" cy="766048"/>
          </a:xfrm>
          <a:prstGeom prst="rect">
            <a:avLst/>
          </a:prstGeom>
          <a:noFill/>
        </p:spPr>
        <p:txBody>
          <a:bodyPr wrap="square" lIns="0" tIns="0" rIns="0" bIns="0" rtlCol="0" anchor="t"/>
          <a:lstStyle/>
          <a:p>
            <a:pPr marL="0" indent="0" algn="l">
              <a:lnSpc>
                <a:spcPts val="3000"/>
              </a:lnSpc>
              <a:buSzPct val="100000"/>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Monitored </a:t>
            </a: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accuracy</a:t>
            </a: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as the primary performance metric during training and validation.</a:t>
            </a:r>
            <a:endParaRPr lang="en-US" sz="1850" dirty="0"/>
          </a:p>
        </p:txBody>
      </p:sp>
      <p:sp>
        <p:nvSpPr>
          <p:cNvPr id="7" name="Text 5"/>
          <p:cNvSpPr/>
          <p:nvPr/>
        </p:nvSpPr>
        <p:spPr>
          <a:xfrm>
            <a:off x="837724" y="5939909"/>
            <a:ext cx="6185535" cy="383024"/>
          </a:xfrm>
          <a:prstGeom prst="rect">
            <a:avLst/>
          </a:prstGeom>
          <a:noFill/>
        </p:spPr>
        <p:txBody>
          <a:bodyPr wrap="none" lIns="0" tIns="0" rIns="0" bIns="0" rtlCol="0" anchor="t"/>
          <a:lstStyle/>
          <a:p>
            <a:pPr marL="0" indent="0" algn="l">
              <a:lnSpc>
                <a:spcPts val="3000"/>
              </a:lnSpc>
              <a:buSzPct val="100000"/>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Discussed training for a certain number of </a:t>
            </a: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epochs</a:t>
            </a: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a:t>
            </a:r>
            <a:endParaRPr lang="en-US" sz="1850" dirty="0"/>
          </a:p>
        </p:txBody>
      </p:sp>
      <p:sp>
        <p:nvSpPr>
          <p:cNvPr id="8" name="Text 6"/>
          <p:cNvSpPr/>
          <p:nvPr/>
        </p:nvSpPr>
        <p:spPr>
          <a:xfrm>
            <a:off x="837724" y="6538317"/>
            <a:ext cx="6185535" cy="383024"/>
          </a:xfrm>
          <a:prstGeom prst="rect">
            <a:avLst/>
          </a:prstGeom>
          <a:noFill/>
        </p:spPr>
        <p:txBody>
          <a:bodyPr wrap="none" lIns="0" tIns="0" rIns="0" bIns="0" rtlCol="0" anchor="t"/>
          <a:lstStyle/>
          <a:p>
            <a:pPr marL="0" indent="0" algn="l">
              <a:lnSpc>
                <a:spcPts val="3000"/>
              </a:lnSpc>
              <a:buNone/>
            </a:pPr>
            <a:endParaRPr lang="en-US" sz="1850" dirty="0"/>
          </a:p>
        </p:txBody>
      </p:sp>
      <p:sp>
        <p:nvSpPr>
          <p:cNvPr id="9" name="Text 7"/>
          <p:cNvSpPr/>
          <p:nvPr/>
        </p:nvSpPr>
        <p:spPr>
          <a:xfrm>
            <a:off x="7614761" y="2371130"/>
            <a:ext cx="6185535" cy="383024"/>
          </a:xfrm>
          <a:prstGeom prst="rect">
            <a:avLst/>
          </a:prstGeom>
          <a:noFill/>
        </p:spPr>
        <p:txBody>
          <a:bodyPr wrap="none" lIns="0" tIns="0" rIns="0" bIns="0" rtlCol="0" anchor="t"/>
          <a:lstStyle/>
          <a:p>
            <a:pPr marL="0" indent="0" algn="l">
              <a:lnSpc>
                <a:spcPts val="3000"/>
              </a:lnSpc>
              <a:buNone/>
            </a:pP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Deployment:</a:t>
            </a:r>
            <a:endParaRPr lang="en-US" sz="1850" dirty="0"/>
          </a:p>
        </p:txBody>
      </p:sp>
      <p:sp>
        <p:nvSpPr>
          <p:cNvPr id="10" name="Text 8"/>
          <p:cNvSpPr/>
          <p:nvPr/>
        </p:nvSpPr>
        <p:spPr>
          <a:xfrm>
            <a:off x="7614761" y="2969538"/>
            <a:ext cx="6185535" cy="1187172"/>
          </a:xfrm>
          <a:prstGeom prst="rect">
            <a:avLst/>
          </a:prstGeom>
          <a:noFill/>
        </p:spPr>
        <p:txBody>
          <a:bodyPr wrap="square" lIns="0" tIns="0" rIns="0" bIns="0" rtlCol="0" anchor="t"/>
          <a:lstStyle/>
          <a:p>
            <a:pPr marL="0" indent="0" algn="l">
              <a:lnSpc>
                <a:spcPts val="3000"/>
              </a:lnSpc>
              <a:buSzPct val="100000"/>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Discussed deploying the trained Keras model. The method we considered was saving the model using </a:t>
            </a:r>
            <a:r>
              <a:rPr lang="en-US" sz="1850" dirty="0">
                <a:solidFill>
                  <a:srgbClr val="D9E1FF"/>
                </a:solidFill>
                <a:highlight>
                  <a:srgbClr val="4C0107"/>
                </a:highlight>
                <a:latin typeface="Consolas" panose="020B0609020204030204" pitchFamily="34" charset="0"/>
                <a:ea typeface="Consolas" panose="020B0609020204030204" pitchFamily="34" charset="-122"/>
                <a:cs typeface="Consolas" panose="020B0609020204030204" pitchFamily="34" charset="-120"/>
              </a:rPr>
              <a:t>model.save()</a:t>
            </a: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 </a:t>
            </a:r>
            <a:r>
              <a:rPr lang="en-US" sz="1850" dirty="0">
                <a:solidFill>
                  <a:srgbClr val="D9E1FF"/>
                </a:solidFill>
                <a:highlight>
                  <a:srgbClr val="4C0107"/>
                </a:highlight>
                <a:latin typeface="Consolas" panose="020B0609020204030204" pitchFamily="34" charset="0"/>
                <a:ea typeface="Consolas" panose="020B0609020204030204" pitchFamily="34" charset="-122"/>
                <a:cs typeface="Consolas" panose="020B0609020204030204" pitchFamily="34" charset="-120"/>
              </a:rPr>
              <a:t>.keras</a:t>
            </a: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file).</a:t>
            </a:r>
            <a:endParaRPr lang="en-US" sz="1850" dirty="0"/>
          </a:p>
        </p:txBody>
      </p:sp>
      <p:sp>
        <p:nvSpPr>
          <p:cNvPr id="11" name="Text 9"/>
          <p:cNvSpPr/>
          <p:nvPr/>
        </p:nvSpPr>
        <p:spPr>
          <a:xfrm>
            <a:off x="7614761" y="4240411"/>
            <a:ext cx="6185535" cy="766048"/>
          </a:xfrm>
          <a:prstGeom prst="rect">
            <a:avLst/>
          </a:prstGeom>
          <a:noFill/>
        </p:spPr>
        <p:txBody>
          <a:bodyPr wrap="square" lIns="0" tIns="0" rIns="0" bIns="0" rtlCol="0" anchor="t"/>
          <a:lstStyle/>
          <a:p>
            <a:pPr marL="342900" indent="-342900" algn="l">
              <a:lnSpc>
                <a:spcPts val="3000"/>
              </a:lnSpc>
              <a:buSzPct val="100000"/>
              <a:buChar char="•"/>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For demonstration, a simple tkinter GUI was used to classify the images as 'okay' or 'defective'</a:t>
            </a:r>
            <a:endParaRPr lang="en-US" sz="1850" dirty="0"/>
          </a:p>
        </p:txBody>
      </p:sp>
      <p:sp>
        <p:nvSpPr>
          <p:cNvPr id="12" name="Text 10"/>
          <p:cNvSpPr/>
          <p:nvPr/>
        </p:nvSpPr>
        <p:spPr>
          <a:xfrm>
            <a:off x="7614761" y="5090160"/>
            <a:ext cx="6185535" cy="1149072"/>
          </a:xfrm>
          <a:prstGeom prst="rect">
            <a:avLst/>
          </a:prstGeom>
          <a:noFill/>
        </p:spPr>
        <p:txBody>
          <a:bodyPr wrap="square" lIns="0" tIns="0" rIns="0" bIns="0" rtlCol="0" anchor="t"/>
          <a:lstStyle/>
          <a:p>
            <a:pPr marL="342900" indent="-342900" algn="l">
              <a:lnSpc>
                <a:spcPts val="3000"/>
              </a:lnSpc>
              <a:buSzPct val="100000"/>
              <a:buChar char="•"/>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output of the deployed model is the predicted class (okay or defective) and potentially the probability score from the sigmoid output.</a:t>
            </a:r>
            <a:endParaRPr lang="en-US" sz="1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635675" y="499467"/>
            <a:ext cx="7997428" cy="6426756"/>
          </a:xfrm>
          <a:prstGeom prst="rect">
            <a:avLst/>
          </a:prstGeom>
        </p:spPr>
      </p:pic>
      <p:sp>
        <p:nvSpPr>
          <p:cNvPr id="3" name="Text 0"/>
          <p:cNvSpPr/>
          <p:nvPr/>
        </p:nvSpPr>
        <p:spPr>
          <a:xfrm>
            <a:off x="635675" y="7198638"/>
            <a:ext cx="4274106" cy="534233"/>
          </a:xfrm>
          <a:prstGeom prst="rect">
            <a:avLst/>
          </a:prstGeom>
          <a:noFill/>
        </p:spPr>
        <p:txBody>
          <a:bodyPr wrap="none" lIns="0" tIns="0" rIns="0" bIns="0" rtlCol="0" anchor="t"/>
          <a:lstStyle/>
          <a:p>
            <a:pPr marL="0" indent="0" algn="l">
              <a:lnSpc>
                <a:spcPts val="4200"/>
              </a:lnSpc>
              <a:buNone/>
            </a:pPr>
            <a:endParaRPr lang="en-US" sz="3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60333" y="770096"/>
            <a:ext cx="7623334" cy="1277779"/>
          </a:xfrm>
          <a:prstGeom prst="rect">
            <a:avLst/>
          </a:prstGeom>
          <a:noFill/>
        </p:spPr>
        <p:txBody>
          <a:bodyPr wrap="square" lIns="0" tIns="0" rIns="0" bIns="0" rtlCol="0" anchor="t"/>
          <a:lstStyle/>
          <a:p>
            <a:pPr marL="0" indent="0" algn="l">
              <a:lnSpc>
                <a:spcPts val="5000"/>
              </a:lnSpc>
              <a:buNone/>
            </a:pPr>
            <a:r>
              <a:rPr lang="en-US" sz="4000" dirty="0">
                <a:solidFill>
                  <a:srgbClr val="FFFFFF"/>
                </a:solidFill>
                <a:latin typeface="Kanit" pitchFamily="34" charset="0"/>
                <a:ea typeface="Kanit" pitchFamily="34" charset="-122"/>
                <a:cs typeface="Kanit" pitchFamily="34" charset="-120"/>
              </a:rPr>
              <a:t>Deployment and Results of the "Baby Project"</a:t>
            </a:r>
            <a:endParaRPr lang="en-US" sz="4000" dirty="0"/>
          </a:p>
        </p:txBody>
      </p:sp>
      <p:pic>
        <p:nvPicPr>
          <p:cNvPr id="4" name="Image 1" descr="preencoded.png"/>
          <p:cNvPicPr>
            <a:picLocks noChangeAspect="1"/>
          </p:cNvPicPr>
          <p:nvPr/>
        </p:nvPicPr>
        <p:blipFill>
          <a:blip r:embed="rId2"/>
          <a:stretch>
            <a:fillRect/>
          </a:stretch>
        </p:blipFill>
        <p:spPr>
          <a:xfrm>
            <a:off x="760333" y="2373749"/>
            <a:ext cx="1086207" cy="1927027"/>
          </a:xfrm>
          <a:prstGeom prst="rect">
            <a:avLst/>
          </a:prstGeom>
        </p:spPr>
      </p:pic>
      <p:sp>
        <p:nvSpPr>
          <p:cNvPr id="5" name="Text 1"/>
          <p:cNvSpPr/>
          <p:nvPr/>
        </p:nvSpPr>
        <p:spPr>
          <a:xfrm>
            <a:off x="2172414" y="2590919"/>
            <a:ext cx="2555915" cy="319445"/>
          </a:xfrm>
          <a:prstGeom prst="rect">
            <a:avLst/>
          </a:prstGeom>
          <a:noFill/>
        </p:spPr>
        <p:txBody>
          <a:bodyPr wrap="none" lIns="0" tIns="0" rIns="0" bIns="0" rtlCol="0" anchor="t"/>
          <a:lstStyle/>
          <a:p>
            <a:pPr marL="0" indent="0" algn="l">
              <a:lnSpc>
                <a:spcPts val="2500"/>
              </a:lnSpc>
              <a:buNone/>
            </a:pPr>
            <a:r>
              <a:rPr lang="en-US" sz="2000" dirty="0">
                <a:solidFill>
                  <a:srgbClr val="D9E1FF"/>
                </a:solidFill>
                <a:latin typeface="Kanit" pitchFamily="34" charset="0"/>
                <a:ea typeface="Kanit" pitchFamily="34" charset="-122"/>
                <a:cs typeface="Kanit" pitchFamily="34" charset="-120"/>
              </a:rPr>
              <a:t>Model Training</a:t>
            </a:r>
            <a:endParaRPr lang="en-US" sz="2000" dirty="0"/>
          </a:p>
        </p:txBody>
      </p:sp>
      <p:sp>
        <p:nvSpPr>
          <p:cNvPr id="6" name="Text 2"/>
          <p:cNvSpPr/>
          <p:nvPr/>
        </p:nvSpPr>
        <p:spPr>
          <a:xfrm>
            <a:off x="2172414" y="3040618"/>
            <a:ext cx="6211253" cy="1042988"/>
          </a:xfrm>
          <a:prstGeom prst="rect">
            <a:avLst/>
          </a:prstGeom>
          <a:noFill/>
        </p:spPr>
        <p:txBody>
          <a:bodyPr wrap="square" lIns="0" tIns="0" rIns="0" bIns="0" rtlCol="0" anchor="t"/>
          <a:lstStyle/>
          <a:p>
            <a:pPr marL="0" indent="0" algn="l">
              <a:lnSpc>
                <a:spcPts val="2700"/>
              </a:lnSpc>
              <a:buNone/>
            </a:pPr>
            <a:r>
              <a:rPr lang="en-US" sz="17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Training the CNN model using prepared image data, optimizing with an appropriate loss function and evaluation metrics.</a:t>
            </a:r>
            <a:endParaRPr lang="en-US" sz="1700" dirty="0"/>
          </a:p>
        </p:txBody>
      </p:sp>
      <p:pic>
        <p:nvPicPr>
          <p:cNvPr id="7" name="Image 2" descr="preencoded.png"/>
          <p:cNvPicPr>
            <a:picLocks noChangeAspect="1"/>
          </p:cNvPicPr>
          <p:nvPr/>
        </p:nvPicPr>
        <p:blipFill>
          <a:blip r:embed="rId3"/>
          <a:stretch>
            <a:fillRect/>
          </a:stretch>
        </p:blipFill>
        <p:spPr>
          <a:xfrm>
            <a:off x="760333" y="4300776"/>
            <a:ext cx="1086207" cy="1579364"/>
          </a:xfrm>
          <a:prstGeom prst="rect">
            <a:avLst/>
          </a:prstGeom>
        </p:spPr>
      </p:pic>
      <p:sp>
        <p:nvSpPr>
          <p:cNvPr id="8" name="Text 3"/>
          <p:cNvSpPr/>
          <p:nvPr/>
        </p:nvSpPr>
        <p:spPr>
          <a:xfrm>
            <a:off x="2172414" y="4517946"/>
            <a:ext cx="2555915" cy="319445"/>
          </a:xfrm>
          <a:prstGeom prst="rect">
            <a:avLst/>
          </a:prstGeom>
          <a:noFill/>
        </p:spPr>
        <p:txBody>
          <a:bodyPr wrap="none" lIns="0" tIns="0" rIns="0" bIns="0" rtlCol="0" anchor="t"/>
          <a:lstStyle/>
          <a:p>
            <a:pPr marL="0" indent="0" algn="l">
              <a:lnSpc>
                <a:spcPts val="2500"/>
              </a:lnSpc>
              <a:buNone/>
            </a:pPr>
            <a:r>
              <a:rPr lang="en-US" sz="2000" dirty="0">
                <a:solidFill>
                  <a:srgbClr val="D9E1FF"/>
                </a:solidFill>
                <a:latin typeface="Kanit" pitchFamily="34" charset="0"/>
                <a:ea typeface="Kanit" pitchFamily="34" charset="-122"/>
                <a:cs typeface="Kanit" pitchFamily="34" charset="-120"/>
              </a:rPr>
              <a:t>Results</a:t>
            </a:r>
            <a:endParaRPr lang="en-US" sz="2000" dirty="0"/>
          </a:p>
        </p:txBody>
      </p:sp>
      <p:sp>
        <p:nvSpPr>
          <p:cNvPr id="9" name="Text 4"/>
          <p:cNvSpPr/>
          <p:nvPr/>
        </p:nvSpPr>
        <p:spPr>
          <a:xfrm>
            <a:off x="2172414" y="4967645"/>
            <a:ext cx="6211253" cy="695325"/>
          </a:xfrm>
          <a:prstGeom prst="rect">
            <a:avLst/>
          </a:prstGeom>
          <a:noFill/>
        </p:spPr>
        <p:txBody>
          <a:bodyPr wrap="square" lIns="0" tIns="0" rIns="0" bIns="0" rtlCol="0" anchor="t"/>
          <a:lstStyle/>
          <a:p>
            <a:pPr marL="0" indent="0" algn="l">
              <a:lnSpc>
                <a:spcPts val="2700"/>
              </a:lnSpc>
              <a:buNone/>
            </a:pPr>
            <a:r>
              <a:rPr lang="en-US" sz="17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Achieving high accuracy in classifying casting images, with a focus on minimizing false negatives.</a:t>
            </a:r>
            <a:endParaRPr lang="en-US" sz="1700" dirty="0"/>
          </a:p>
        </p:txBody>
      </p:sp>
      <p:pic>
        <p:nvPicPr>
          <p:cNvPr id="10" name="Image 3" descr="preencoded.png"/>
          <p:cNvPicPr>
            <a:picLocks noChangeAspect="1"/>
          </p:cNvPicPr>
          <p:nvPr/>
        </p:nvPicPr>
        <p:blipFill>
          <a:blip r:embed="rId4"/>
          <a:stretch>
            <a:fillRect/>
          </a:stretch>
        </p:blipFill>
        <p:spPr>
          <a:xfrm>
            <a:off x="760333" y="5880140"/>
            <a:ext cx="1086207" cy="1579364"/>
          </a:xfrm>
          <a:prstGeom prst="rect">
            <a:avLst/>
          </a:prstGeom>
        </p:spPr>
      </p:pic>
      <p:sp>
        <p:nvSpPr>
          <p:cNvPr id="11" name="Text 5"/>
          <p:cNvSpPr/>
          <p:nvPr/>
        </p:nvSpPr>
        <p:spPr>
          <a:xfrm>
            <a:off x="2172414" y="6097310"/>
            <a:ext cx="2555915" cy="319445"/>
          </a:xfrm>
          <a:prstGeom prst="rect">
            <a:avLst/>
          </a:prstGeom>
          <a:noFill/>
        </p:spPr>
        <p:txBody>
          <a:bodyPr wrap="none" lIns="0" tIns="0" rIns="0" bIns="0" rtlCol="0" anchor="t"/>
          <a:lstStyle/>
          <a:p>
            <a:pPr marL="0" indent="0" algn="l">
              <a:lnSpc>
                <a:spcPts val="2500"/>
              </a:lnSpc>
              <a:buNone/>
            </a:pPr>
            <a:r>
              <a:rPr lang="en-US" sz="2000" dirty="0">
                <a:solidFill>
                  <a:srgbClr val="D9E1FF"/>
                </a:solidFill>
                <a:latin typeface="Kanit" pitchFamily="34" charset="0"/>
                <a:ea typeface="Kanit" pitchFamily="34" charset="-122"/>
                <a:cs typeface="Kanit" pitchFamily="34" charset="-120"/>
              </a:rPr>
              <a:t>Deployment</a:t>
            </a:r>
            <a:endParaRPr lang="en-US" sz="2000" dirty="0"/>
          </a:p>
        </p:txBody>
      </p:sp>
      <p:sp>
        <p:nvSpPr>
          <p:cNvPr id="12" name="Text 6"/>
          <p:cNvSpPr/>
          <p:nvPr/>
        </p:nvSpPr>
        <p:spPr>
          <a:xfrm>
            <a:off x="2172414" y="6547009"/>
            <a:ext cx="6211253" cy="695325"/>
          </a:xfrm>
          <a:prstGeom prst="rect">
            <a:avLst/>
          </a:prstGeom>
          <a:noFill/>
        </p:spPr>
        <p:txBody>
          <a:bodyPr wrap="square" lIns="0" tIns="0" rIns="0" bIns="0" rtlCol="0" anchor="t"/>
          <a:lstStyle/>
          <a:p>
            <a:pPr marL="0" indent="0" algn="l">
              <a:lnSpc>
                <a:spcPts val="2700"/>
              </a:lnSpc>
              <a:buNone/>
            </a:pPr>
            <a:r>
              <a:rPr lang="en-US" sz="17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Developing a desktop application with a GUI using Tkinter for practical use by quality control inspectors.</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63786" y="741283"/>
            <a:ext cx="7616428" cy="1283732"/>
          </a:xfrm>
          <a:prstGeom prst="rect">
            <a:avLst/>
          </a:prstGeom>
          <a:noFill/>
        </p:spPr>
        <p:txBody>
          <a:bodyPr wrap="square" lIns="0" tIns="0" rIns="0" bIns="0" rtlCol="0" anchor="t"/>
          <a:lstStyle/>
          <a:p>
            <a:pPr marL="0" indent="0" algn="l">
              <a:lnSpc>
                <a:spcPts val="5050"/>
              </a:lnSpc>
              <a:buNone/>
            </a:pPr>
            <a:r>
              <a:rPr lang="en-US" sz="4000" dirty="0">
                <a:solidFill>
                  <a:srgbClr val="FFFFFF"/>
                </a:solidFill>
                <a:latin typeface="Kanit" pitchFamily="34" charset="0"/>
                <a:ea typeface="Kanit" pitchFamily="34" charset="-122"/>
                <a:cs typeface="Kanit" pitchFamily="34" charset="-120"/>
              </a:rPr>
              <a:t>Discussion, Limitations, and Future Work</a:t>
            </a:r>
            <a:endParaRPr lang="en-US" sz="4000" dirty="0"/>
          </a:p>
        </p:txBody>
      </p:sp>
      <p:sp>
        <p:nvSpPr>
          <p:cNvPr id="4" name="Shape 1"/>
          <p:cNvSpPr/>
          <p:nvPr/>
        </p:nvSpPr>
        <p:spPr>
          <a:xfrm>
            <a:off x="763786" y="2352318"/>
            <a:ext cx="3699153" cy="2982516"/>
          </a:xfrm>
          <a:prstGeom prst="roundRect">
            <a:avLst>
              <a:gd name="adj" fmla="val 1098"/>
            </a:avLst>
          </a:prstGeom>
          <a:solidFill>
            <a:srgbClr val="2F2B54"/>
          </a:solidFill>
        </p:spPr>
      </p:sp>
      <p:sp>
        <p:nvSpPr>
          <p:cNvPr id="5" name="Text 2"/>
          <p:cNvSpPr/>
          <p:nvPr/>
        </p:nvSpPr>
        <p:spPr>
          <a:xfrm>
            <a:off x="981908" y="2570440"/>
            <a:ext cx="2567345" cy="320873"/>
          </a:xfrm>
          <a:prstGeom prst="rect">
            <a:avLst/>
          </a:prstGeom>
          <a:noFill/>
        </p:spPr>
        <p:txBody>
          <a:bodyPr wrap="none" lIns="0" tIns="0" rIns="0" bIns="0" rtlCol="0" anchor="t"/>
          <a:lstStyle/>
          <a:p>
            <a:pPr marL="0" indent="0" algn="l">
              <a:lnSpc>
                <a:spcPts val="2500"/>
              </a:lnSpc>
              <a:buNone/>
            </a:pPr>
            <a:r>
              <a:rPr lang="en-US" sz="2000" dirty="0">
                <a:solidFill>
                  <a:srgbClr val="D9E1FF"/>
                </a:solidFill>
                <a:latin typeface="Kanit" pitchFamily="34" charset="0"/>
                <a:ea typeface="Kanit" pitchFamily="34" charset="-122"/>
                <a:cs typeface="Kanit" pitchFamily="34" charset="-120"/>
              </a:rPr>
              <a:t>Discussion</a:t>
            </a:r>
            <a:endParaRPr lang="en-US" sz="2000" dirty="0"/>
          </a:p>
        </p:txBody>
      </p:sp>
      <p:sp>
        <p:nvSpPr>
          <p:cNvPr id="6" name="Text 3"/>
          <p:cNvSpPr/>
          <p:nvPr/>
        </p:nvSpPr>
        <p:spPr>
          <a:xfrm>
            <a:off x="981908" y="3022163"/>
            <a:ext cx="3262908" cy="1745456"/>
          </a:xfrm>
          <a:prstGeom prst="rect">
            <a:avLst/>
          </a:prstGeom>
          <a:noFill/>
        </p:spPr>
        <p:txBody>
          <a:bodyPr wrap="square" lIns="0" tIns="0" rIns="0" bIns="0" rtlCol="0" anchor="t"/>
          <a:lstStyle/>
          <a:p>
            <a:pPr marL="0" indent="0" algn="l">
              <a:lnSpc>
                <a:spcPts val="2700"/>
              </a:lnSpc>
              <a:buNone/>
            </a:pPr>
            <a:r>
              <a:rPr lang="en-US" sz="17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Both projects demonstrated the application of machine learning for predictive maintenance and automated quality inspection, achieving good performance.</a:t>
            </a:r>
            <a:endParaRPr lang="en-US" sz="1700" dirty="0"/>
          </a:p>
        </p:txBody>
      </p:sp>
      <p:sp>
        <p:nvSpPr>
          <p:cNvPr id="7" name="Shape 4"/>
          <p:cNvSpPr/>
          <p:nvPr/>
        </p:nvSpPr>
        <p:spPr>
          <a:xfrm>
            <a:off x="4681061" y="2352318"/>
            <a:ext cx="3699153" cy="2982516"/>
          </a:xfrm>
          <a:prstGeom prst="roundRect">
            <a:avLst>
              <a:gd name="adj" fmla="val 1098"/>
            </a:avLst>
          </a:prstGeom>
          <a:solidFill>
            <a:srgbClr val="2F2B54"/>
          </a:solidFill>
        </p:spPr>
      </p:sp>
      <p:sp>
        <p:nvSpPr>
          <p:cNvPr id="8" name="Text 5"/>
          <p:cNvSpPr/>
          <p:nvPr/>
        </p:nvSpPr>
        <p:spPr>
          <a:xfrm>
            <a:off x="4899184" y="2570440"/>
            <a:ext cx="2567345" cy="320873"/>
          </a:xfrm>
          <a:prstGeom prst="rect">
            <a:avLst/>
          </a:prstGeom>
          <a:noFill/>
        </p:spPr>
        <p:txBody>
          <a:bodyPr wrap="none" lIns="0" tIns="0" rIns="0" bIns="0" rtlCol="0" anchor="t"/>
          <a:lstStyle/>
          <a:p>
            <a:pPr marL="0" indent="0" algn="l">
              <a:lnSpc>
                <a:spcPts val="2500"/>
              </a:lnSpc>
              <a:buNone/>
            </a:pPr>
            <a:r>
              <a:rPr lang="en-US" sz="2000" dirty="0">
                <a:solidFill>
                  <a:srgbClr val="D9E1FF"/>
                </a:solidFill>
                <a:latin typeface="Kanit" pitchFamily="34" charset="0"/>
                <a:ea typeface="Kanit" pitchFamily="34" charset="-122"/>
                <a:cs typeface="Kanit" pitchFamily="34" charset="-120"/>
              </a:rPr>
              <a:t>Limitations</a:t>
            </a:r>
            <a:endParaRPr lang="en-US" sz="2000" dirty="0"/>
          </a:p>
        </p:txBody>
      </p:sp>
      <p:sp>
        <p:nvSpPr>
          <p:cNvPr id="9" name="Text 6"/>
          <p:cNvSpPr/>
          <p:nvPr/>
        </p:nvSpPr>
        <p:spPr>
          <a:xfrm>
            <a:off x="4899184" y="3022163"/>
            <a:ext cx="3262908" cy="2094547"/>
          </a:xfrm>
          <a:prstGeom prst="rect">
            <a:avLst/>
          </a:prstGeom>
          <a:noFill/>
        </p:spPr>
        <p:txBody>
          <a:bodyPr wrap="square" lIns="0" tIns="0" rIns="0" bIns="0" rtlCol="0" anchor="t"/>
          <a:lstStyle/>
          <a:p>
            <a:pPr marL="0" indent="0" algn="l">
              <a:lnSpc>
                <a:spcPts val="2700"/>
              </a:lnSpc>
              <a:buNone/>
            </a:pPr>
            <a:r>
              <a:rPr lang="en-US" sz="17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"Mother Project" was limited by the dataset's nature, while the "Baby Project" needs a larger, more diverse dataset and further investigation of false negatives.</a:t>
            </a:r>
            <a:endParaRPr lang="en-US" sz="1700" dirty="0"/>
          </a:p>
        </p:txBody>
      </p:sp>
      <p:sp>
        <p:nvSpPr>
          <p:cNvPr id="10" name="Shape 7"/>
          <p:cNvSpPr/>
          <p:nvPr/>
        </p:nvSpPr>
        <p:spPr>
          <a:xfrm>
            <a:off x="763786" y="5552956"/>
            <a:ext cx="7616428" cy="1935242"/>
          </a:xfrm>
          <a:prstGeom prst="roundRect">
            <a:avLst>
              <a:gd name="adj" fmla="val 1691"/>
            </a:avLst>
          </a:prstGeom>
          <a:solidFill>
            <a:srgbClr val="2F2B54"/>
          </a:solidFill>
        </p:spPr>
      </p:sp>
      <p:sp>
        <p:nvSpPr>
          <p:cNvPr id="11" name="Text 8"/>
          <p:cNvSpPr/>
          <p:nvPr/>
        </p:nvSpPr>
        <p:spPr>
          <a:xfrm>
            <a:off x="981908" y="5771078"/>
            <a:ext cx="2567345" cy="320873"/>
          </a:xfrm>
          <a:prstGeom prst="rect">
            <a:avLst/>
          </a:prstGeom>
          <a:noFill/>
        </p:spPr>
        <p:txBody>
          <a:bodyPr wrap="none" lIns="0" tIns="0" rIns="0" bIns="0" rtlCol="0" anchor="t"/>
          <a:lstStyle/>
          <a:p>
            <a:pPr marL="0" indent="0" algn="l">
              <a:lnSpc>
                <a:spcPts val="2500"/>
              </a:lnSpc>
              <a:buNone/>
            </a:pPr>
            <a:r>
              <a:rPr lang="en-US" sz="2000" dirty="0">
                <a:solidFill>
                  <a:srgbClr val="D9E1FF"/>
                </a:solidFill>
                <a:latin typeface="Kanit" pitchFamily="34" charset="0"/>
                <a:ea typeface="Kanit" pitchFamily="34" charset="-122"/>
                <a:cs typeface="Kanit" pitchFamily="34" charset="-120"/>
              </a:rPr>
              <a:t>Future Work</a:t>
            </a:r>
            <a:endParaRPr lang="en-US" sz="2000" dirty="0"/>
          </a:p>
        </p:txBody>
      </p:sp>
      <p:sp>
        <p:nvSpPr>
          <p:cNvPr id="12" name="Text 9"/>
          <p:cNvSpPr/>
          <p:nvPr/>
        </p:nvSpPr>
        <p:spPr>
          <a:xfrm>
            <a:off x="981908" y="6222802"/>
            <a:ext cx="7180183" cy="1047274"/>
          </a:xfrm>
          <a:prstGeom prst="rect">
            <a:avLst/>
          </a:prstGeom>
          <a:noFill/>
        </p:spPr>
        <p:txBody>
          <a:bodyPr wrap="square" lIns="0" tIns="0" rIns="0" bIns="0" rtlCol="0" anchor="t"/>
          <a:lstStyle/>
          <a:p>
            <a:pPr marL="0" indent="0" algn="l">
              <a:lnSpc>
                <a:spcPts val="2700"/>
              </a:lnSpc>
              <a:buNone/>
            </a:pPr>
            <a:r>
              <a:rPr lang="en-US" sz="170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Future steps include incorporating more features, exploring advanced models, integrating real-time data, and refining the classification threshold.</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724" y="1249323"/>
            <a:ext cx="5632490" cy="704017"/>
          </a:xfrm>
          <a:prstGeom prst="rect">
            <a:avLst/>
          </a:prstGeom>
          <a:noFill/>
        </p:spPr>
        <p:txBody>
          <a:bodyPr wrap="none" lIns="0" tIns="0" rIns="0" bIns="0" rtlCol="0" anchor="t"/>
          <a:lstStyle/>
          <a:p>
            <a:pPr marL="0" indent="0" algn="l">
              <a:lnSpc>
                <a:spcPts val="5500"/>
              </a:lnSpc>
              <a:buNone/>
            </a:pPr>
            <a:r>
              <a:rPr lang="en-US" sz="4400" dirty="0">
                <a:solidFill>
                  <a:srgbClr val="FFFFFF"/>
                </a:solidFill>
                <a:latin typeface="Kanit" pitchFamily="34" charset="0"/>
                <a:ea typeface="Kanit" pitchFamily="34" charset="-122"/>
                <a:cs typeface="Kanit" pitchFamily="34" charset="-120"/>
              </a:rPr>
              <a:t>CONCLUSION</a:t>
            </a:r>
            <a:endParaRPr lang="en-US" sz="4400" dirty="0"/>
          </a:p>
        </p:txBody>
      </p:sp>
      <p:sp>
        <p:nvSpPr>
          <p:cNvPr id="3" name="Text 1"/>
          <p:cNvSpPr/>
          <p:nvPr/>
        </p:nvSpPr>
        <p:spPr>
          <a:xfrm>
            <a:off x="837724" y="2432090"/>
            <a:ext cx="12954952" cy="383024"/>
          </a:xfrm>
          <a:prstGeom prst="rect">
            <a:avLst/>
          </a:prstGeom>
          <a:noFill/>
        </p:spPr>
        <p:txBody>
          <a:bodyPr wrap="none" lIns="0" tIns="0" rIns="0" bIns="0" rtlCol="0" anchor="t"/>
          <a:lstStyle/>
          <a:p>
            <a:pPr marL="342900" indent="-342900" algn="l">
              <a:lnSpc>
                <a:spcPts val="3000"/>
              </a:lnSpc>
              <a:buSzPct val="100000"/>
              <a:buChar char="•"/>
            </a:pP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Key Achievements:</a:t>
            </a:r>
            <a:endParaRPr lang="en-US" sz="1850" dirty="0"/>
          </a:p>
        </p:txBody>
      </p:sp>
      <p:sp>
        <p:nvSpPr>
          <p:cNvPr id="4" name="Text 2"/>
          <p:cNvSpPr/>
          <p:nvPr/>
        </p:nvSpPr>
        <p:spPr>
          <a:xfrm>
            <a:off x="837724" y="2898815"/>
            <a:ext cx="12954952" cy="766048"/>
          </a:xfrm>
          <a:prstGeom prst="rect">
            <a:avLst/>
          </a:prstGeom>
          <a:noFill/>
        </p:spPr>
        <p:txBody>
          <a:bodyPr wrap="square" lIns="0" tIns="0" rIns="0" bIns="0" rtlCol="0" anchor="t"/>
          <a:lstStyle/>
          <a:p>
            <a:pPr marL="0" lvl="1" indent="0" algn="l">
              <a:lnSpc>
                <a:spcPts val="3000"/>
              </a:lnSpc>
              <a:buSzPct val="100000"/>
              <a:buNone/>
            </a:pP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Predictive Maintenance:</a:t>
            </a: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Developed a Streamlit-deployed model predicting machine failure (X% accuracy) and tool wear (Y minutes MAE), enabling proactive maintenance.</a:t>
            </a:r>
            <a:endParaRPr lang="en-US" sz="1850" dirty="0"/>
          </a:p>
        </p:txBody>
      </p:sp>
      <p:sp>
        <p:nvSpPr>
          <p:cNvPr id="5" name="Text 3"/>
          <p:cNvSpPr/>
          <p:nvPr/>
        </p:nvSpPr>
        <p:spPr>
          <a:xfrm>
            <a:off x="837724" y="3748564"/>
            <a:ext cx="12954952" cy="766048"/>
          </a:xfrm>
          <a:prstGeom prst="rect">
            <a:avLst/>
          </a:prstGeom>
          <a:noFill/>
        </p:spPr>
        <p:txBody>
          <a:bodyPr wrap="square" lIns="0" tIns="0" rIns="0" bIns="0" rtlCol="0" anchor="t"/>
          <a:lstStyle/>
          <a:p>
            <a:pPr marL="0" lvl="1" indent="0" algn="l">
              <a:lnSpc>
                <a:spcPts val="3000"/>
              </a:lnSpc>
              <a:buSzPct val="100000"/>
              <a:buNone/>
            </a:pP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Casting Quality Control:</a:t>
            </a: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Built a CNN for automated "okay" vs. "defective" casting classification, ready for deployment.</a:t>
            </a:r>
            <a:endParaRPr lang="en-US" sz="1850" dirty="0"/>
          </a:p>
        </p:txBody>
      </p:sp>
      <p:sp>
        <p:nvSpPr>
          <p:cNvPr id="6" name="Text 4"/>
          <p:cNvSpPr/>
          <p:nvPr/>
        </p:nvSpPr>
        <p:spPr>
          <a:xfrm>
            <a:off x="837724" y="4598313"/>
            <a:ext cx="12954952" cy="1149072"/>
          </a:xfrm>
          <a:prstGeom prst="rect">
            <a:avLst/>
          </a:prstGeom>
          <a:noFill/>
        </p:spPr>
        <p:txBody>
          <a:bodyPr wrap="square" lIns="0" tIns="0" rIns="0" bIns="0" rtlCol="0" anchor="t"/>
          <a:lstStyle/>
          <a:p>
            <a:pPr marL="0" indent="0" algn="l">
              <a:lnSpc>
                <a:spcPts val="3000"/>
              </a:lnSpc>
              <a:buSzPct val="100000"/>
              <a:buNone/>
            </a:pP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Transformative Potential:</a:t>
            </a: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Machine learning offers data-driven solutions for proactive maintenance (reduced downtime, optimized resources) and automated quality control (faster, consistent defect detection), enhancing efficiency and quality in manufacturing.</a:t>
            </a:r>
            <a:endParaRPr lang="en-US" sz="1850" dirty="0"/>
          </a:p>
        </p:txBody>
      </p:sp>
      <p:sp>
        <p:nvSpPr>
          <p:cNvPr id="7" name="Text 5"/>
          <p:cNvSpPr/>
          <p:nvPr/>
        </p:nvSpPr>
        <p:spPr>
          <a:xfrm>
            <a:off x="837724" y="5831086"/>
            <a:ext cx="12954952" cy="1149072"/>
          </a:xfrm>
          <a:prstGeom prst="rect">
            <a:avLst/>
          </a:prstGeom>
          <a:noFill/>
        </p:spPr>
        <p:txBody>
          <a:bodyPr wrap="square" lIns="0" tIns="0" rIns="0" bIns="0" rtlCol="0" anchor="t"/>
          <a:lstStyle/>
          <a:p>
            <a:pPr marL="0" indent="0" algn="l">
              <a:lnSpc>
                <a:spcPts val="3000"/>
              </a:lnSpc>
              <a:buSzPct val="100000"/>
              <a:buNone/>
            </a:pPr>
            <a:r>
              <a:rPr lang="en-US" sz="1850" b="1"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The Journey Forward:</a:t>
            </a: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 These projects demonstrate the feasibility of AI-powered manufacturing , paving the way for more reliable, efficient, and high-quality production, with future potential for broader integration and optimization.</a:t>
            </a:r>
            <a:endParaRPr lang="en-US" sz="1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37724" y="1022033"/>
            <a:ext cx="6185535" cy="6185535"/>
          </a:xfrm>
          <a:prstGeom prst="rect">
            <a:avLst/>
          </a:prstGeom>
        </p:spPr>
      </p:pic>
      <p:sp>
        <p:nvSpPr>
          <p:cNvPr id="3" name="Text 0"/>
          <p:cNvSpPr/>
          <p:nvPr/>
        </p:nvSpPr>
        <p:spPr>
          <a:xfrm>
            <a:off x="7614761" y="3111579"/>
            <a:ext cx="6185535" cy="1408033"/>
          </a:xfrm>
          <a:prstGeom prst="rect">
            <a:avLst/>
          </a:prstGeom>
          <a:noFill/>
        </p:spPr>
        <p:txBody>
          <a:bodyPr wrap="square" lIns="0" tIns="0" rIns="0" bIns="0" rtlCol="0" anchor="t"/>
          <a:lstStyle/>
          <a:p>
            <a:pPr marL="0" indent="0" algn="l">
              <a:lnSpc>
                <a:spcPts val="5500"/>
              </a:lnSpc>
              <a:buNone/>
            </a:pPr>
            <a:r>
              <a:rPr lang="en-US" sz="4400" dirty="0">
                <a:solidFill>
                  <a:srgbClr val="FFFFFF"/>
                </a:solidFill>
                <a:latin typeface="Kanit" pitchFamily="34" charset="0"/>
                <a:ea typeface="Kanit" pitchFamily="34" charset="-122"/>
                <a:cs typeface="Kanit" pitchFamily="34" charset="-120"/>
              </a:rPr>
              <a:t>QUESTIONS AND ANSWERS.</a:t>
            </a:r>
            <a:endParaRPr lang="en-US" sz="4400" dirty="0"/>
          </a:p>
        </p:txBody>
      </p:sp>
      <p:sp>
        <p:nvSpPr>
          <p:cNvPr id="4" name="Text 1"/>
          <p:cNvSpPr/>
          <p:nvPr/>
        </p:nvSpPr>
        <p:spPr>
          <a:xfrm>
            <a:off x="7614761" y="4758928"/>
            <a:ext cx="6185535" cy="383024"/>
          </a:xfrm>
          <a:prstGeom prst="rect">
            <a:avLst/>
          </a:prstGeom>
          <a:noFill/>
        </p:spPr>
        <p:txBody>
          <a:bodyPr wrap="none" lIns="0" tIns="0" rIns="0" bIns="0" rtlCol="0" anchor="t"/>
          <a:lstStyle/>
          <a:p>
            <a:pPr marL="0" indent="0" algn="l">
              <a:lnSpc>
                <a:spcPts val="3000"/>
              </a:lnSpc>
              <a:buNone/>
            </a:pPr>
            <a:r>
              <a:rPr lang="en-US" sz="1850" dirty="0">
                <a:solidFill>
                  <a:srgbClr val="D9E1FF"/>
                </a:solidFill>
                <a:latin typeface="Martel Sans Light" panose="00000500000000000000" pitchFamily="34" charset="0"/>
                <a:ea typeface="Martel Sans Light" panose="00000500000000000000" pitchFamily="34" charset="-122"/>
                <a:cs typeface="Martel Sans Light" panose="00000500000000000000" pitchFamily="34" charset="-120"/>
              </a:rPr>
              <a:t>Q &amp; A</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11016</Words>
  <Application>WPS Slides</Application>
  <PresentationFormat>On-screen Show (16:9)</PresentationFormat>
  <Paragraphs>308</Paragraphs>
  <Slides>29</Slides>
  <Notes>29</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29</vt:i4>
      </vt:variant>
    </vt:vector>
  </HeadingPairs>
  <TitlesOfParts>
    <vt:vector size="50" baseType="lpstr">
      <vt:lpstr>Arial</vt:lpstr>
      <vt:lpstr>SimSun</vt:lpstr>
      <vt:lpstr>Wingdings</vt:lpstr>
      <vt:lpstr>Kanit</vt:lpstr>
      <vt:lpstr>Kanit</vt:lpstr>
      <vt:lpstr>Kanit</vt:lpstr>
      <vt:lpstr>Martel Sans Light</vt:lpstr>
      <vt:lpstr>Martel Sans Light</vt:lpstr>
      <vt:lpstr>Martel Sans Light</vt:lpstr>
      <vt:lpstr>Martel Sans Bold</vt:lpstr>
      <vt:lpstr>Segoe Print</vt:lpstr>
      <vt:lpstr>Martel Sans Bold</vt:lpstr>
      <vt:lpstr>Martel Sans Bold</vt:lpstr>
      <vt:lpstr>Calibri</vt:lpstr>
      <vt:lpstr>Microsoft YaHei</vt:lpstr>
      <vt:lpstr>Arial Unicode MS</vt:lpstr>
      <vt:lpstr>Consolas</vt:lpstr>
      <vt:lpstr>Consolas</vt:lpstr>
      <vt:lpstr>Consolas</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WPS_1745581289</cp:lastModifiedBy>
  <cp:revision>3</cp:revision>
  <dcterms:created xsi:type="dcterms:W3CDTF">2025-05-06T13:40:00Z</dcterms:created>
  <dcterms:modified xsi:type="dcterms:W3CDTF">2025-05-06T13:49:36Z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C3E5A2C61E5F49C3AAF27BE596D86D8A_12</vt:lpwstr>
  </property>
  <property fmtid="{D5CDD505-2E9C-101B-9397-08002B2CF9AE}" pid="3" name="KSOProductBuildVer">
    <vt:lpwstr>1033-12.2.0.20795</vt:lpwstr>
  </property>
</Properties>
</file>